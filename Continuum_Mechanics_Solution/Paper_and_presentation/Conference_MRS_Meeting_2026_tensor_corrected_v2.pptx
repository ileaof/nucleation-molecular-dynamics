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9" r:id="rId4"/>
    <p:sldId id="258" r:id="rId5"/>
    <p:sldId id="267" r:id="rId6"/>
    <p:sldId id="260" r:id="rId7"/>
    <p:sldId id="261" r:id="rId8"/>
    <p:sldId id="264" r:id="rId9"/>
    <p:sldId id="265" r:id="rId10"/>
    <p:sldId id="266" r:id="rId11"/>
    <p:sldId id="306" r:id="rId12"/>
    <p:sldId id="268" r:id="rId13"/>
    <p:sldId id="314" r:id="rId14"/>
    <p:sldId id="271" r:id="rId15"/>
    <p:sldId id="312" r:id="rId16"/>
    <p:sldId id="313" r:id="rId17"/>
    <p:sldId id="297" r:id="rId18"/>
    <p:sldId id="310" r:id="rId19"/>
    <p:sldId id="273" r:id="rId20"/>
    <p:sldId id="274" r:id="rId21"/>
    <p:sldId id="275" r:id="rId22"/>
    <p:sldId id="276" r:id="rId23"/>
    <p:sldId id="277" r:id="rId24"/>
    <p:sldId id="278" r:id="rId25"/>
    <p:sldId id="283" r:id="rId26"/>
    <p:sldId id="294" r:id="rId27"/>
    <p:sldId id="280" r:id="rId28"/>
    <p:sldId id="290" r:id="rId29"/>
    <p:sldId id="292" r:id="rId30"/>
    <p:sldId id="281" r:id="rId31"/>
    <p:sldId id="285" r:id="rId32"/>
    <p:sldId id="286" r:id="rId33"/>
    <p:sldId id="293" r:id="rId34"/>
    <p:sldId id="287" r:id="rId35"/>
    <p:sldId id="288" r:id="rId36"/>
    <p:sldId id="289" r:id="rId37"/>
    <p:sldId id="317" r:id="rId38"/>
    <p:sldId id="308" r:id="rId39"/>
    <p:sldId id="298" r:id="rId40"/>
    <p:sldId id="299" r:id="rId41"/>
    <p:sldId id="315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7D7537-D732-47B1-855C-EF31F32D0466}" v="103" dt="2026-08-16T23:59:26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8" d="100"/>
          <a:sy n="68" d="100"/>
        </p:scale>
        <p:origin x="55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77A9B-B11E-4BA9-88CD-20A7B999EB0C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6E5F8-B13B-4217-BA11-D9DC6CEEA0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2225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098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0978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0C9C3-8393-F6F1-F7ED-77ADE8D3B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60364D-3E0E-A98D-FF00-9ED190E52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C737D74-653E-428C-D2F4-5C7FD00A3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58EAA9-1E02-C7B6-63B4-BDE78641B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6987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E887B-DBCB-4C47-9EE8-A428544C5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0E0A8C2-8325-6E1E-75FC-1DD2CD0DE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9214FD0-4CFF-F759-7EE6-3ADB1FD83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7E34262-D1D3-4C74-6898-7DAA3D2C2F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869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F1BFB-EB3D-B1F0-C328-77D8E4298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3CE7582-C0E4-6AB8-2795-90136EAE5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BC681B5-897E-3842-32EF-F5EB7CC75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EAD14FC-684F-E09E-D8FF-FC97140D0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5723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836E7-6021-2041-9406-8051979A5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20B6A48-B9B3-1664-1562-88A38107E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A88E5C2-6470-554D-5454-50A39AFB4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6F4445B-1D09-EE4C-B9CA-F5C140D36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205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3A068-5906-299A-3B61-3F2DCEBFC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02FA210-075F-8AD7-5BCE-52B8EA0AD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BD85E9-4F89-C00A-BF56-CFB336EAD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12BA6C3-9352-ACFF-1412-3FA4D955F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3231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EB79B-8FEC-F824-AEB8-980D42501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40D99F-EE3A-9921-5014-B4E1ECF2F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B9F0AA-4157-C53F-190F-35BB1B63B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0F7F45-8AEA-48F9-67C0-A066B8EA4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7965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45B8-54B8-68ED-A1FF-3B700ADB9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90BD276-3B94-236F-959F-54DB6A907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E51E7A7-B840-2A74-5757-E9C6304F6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A234F4-4BDE-7957-EC84-ADBAE42B3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2197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2137-115F-B43E-B515-0C9F9C0FF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0671ECB-4075-C5A5-21D0-2EB76B9A7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BA201B5-52B1-3F28-401C-8FF4DCAC2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1FD81B-F1AF-C77C-94BF-2FB9AEEBE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9978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C8DB4-408A-3458-F406-AF70C7E55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8DB4E7F-A430-9B82-6FCF-FC022EC52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C899391-3781-A69F-AE75-9EC0F7646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DFCDA5-867E-424A-B541-9777F0791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113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13FEE-94DC-033C-C317-8985871B4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1457188-D889-72EB-7ED2-1BBA4C470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150CC2-CD53-F91C-85B3-B3EF7A7FB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6D58597-0B50-C3E8-3D8A-1FCAC3F02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88344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7D8D3-B84B-FBDB-1A13-353845491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E76AE7-86D0-12B4-A543-E3B16E023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CA8130-CCEB-B543-0EA9-D99CCF174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C115A5-B196-5FC4-942D-B7220AB88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98323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C9953-5EB8-B188-875F-412B56591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5CF3EBB-3B92-6718-121B-B598E65E2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DB017D9-67C5-1E8F-08BC-287D0809B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E90815-E31E-CDE5-A337-E0787C30E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783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3FCD3-A61A-F58C-B903-F416B7F54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15D47AB-BD38-7BD1-AD05-89053B7B0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9625F3D-5AAC-F26C-6E69-EF15E4957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8BABB2-8EC9-DFD5-3BC6-858EE2401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4629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7E990-D812-1CB5-B08D-F01B57CE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7CB1589-79F5-4D61-4444-3308F7D66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43BBED0-810E-40CE-899B-BA09AB82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8C7789-D08B-FCC7-EE7F-B5ABDF97F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370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4411D-B0B8-C388-BF9B-63BB20453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706BA87-FCD0-AE51-8CFD-B03A67355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3E9128-3DA0-6DFF-B92A-86477EE92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005326-9AAC-A521-33E6-B5B232DE3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5634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E821B-A273-2084-4CA4-A9510535B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4E4A555-7EA9-C9EF-28C7-1540E56FA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C416F6-91D9-1A1E-C798-52E6C83BA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4C94D5-E5BA-834B-43D2-2F396A455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4859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D67A7-E396-9BA0-B19F-E41013E2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559F75A-D4A6-B588-7065-9DD2ABB63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38EFF1-74A5-AFE3-C633-7225F8EA1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FC9F83-B5B5-BF8F-CF75-666BB7CCD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77123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2AF57-E78C-88B1-000D-54F7D1B50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CD51B58-E947-ED7A-3369-2C940B5B2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AAA7EBE-2E0F-0663-85B7-36402C512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85D660-B59B-C111-FB06-610C1A9FF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9552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A0CAA-1171-F3F9-5F00-EFD6E6E9E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C6D850F-DEB2-4EB0-F014-6E129EABF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070CE0E-0521-6B85-93D9-E3C93E61C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E4816C9-61FC-3880-0DD7-3CC157128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97421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4E602-1483-C8C9-FF7C-129B4DC7D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3CEF6AB-EC4F-DF34-94EA-1CF74BA7A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8A184AF-A7B5-BF35-0498-F2B67AF13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8B536E-257E-3E28-DFDB-70A04F44D7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0216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A8AAB-95A7-0B13-F5F6-869E7005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D300E9B-53C7-9555-AAC6-AAC461297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1410AE8-283A-8E42-6745-84A12F033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EFBD12-CA92-0665-F91B-F38B2EC81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33114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1D694-770B-D477-560D-A4EEEAEFA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F36ECE8-0899-4FA6-0C1D-E0F9C81F0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4492D5A-F4E0-FDC4-8D9B-064287259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DBF848-0866-216C-165D-225A6CF8F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4174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57B27-1C73-EAC3-7D66-8F9ECD645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1825A61-D31B-6EB3-1665-1AD72542E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A93567A-B21A-68FB-3110-D4830FC31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67174E-39C4-72A3-7497-F821D3436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6339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5BC1E-70FF-E597-5EC6-5C951DD64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82FDD81-1898-8297-C45E-922A0DB37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990C41A-8F47-43B8-60E6-48182FD9A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955880-8ECE-0D35-C9C6-9107B4500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8770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59ECF-28D8-B9FF-9E8C-D11D5CF95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974CEA8-7227-2BA2-4BDB-970C941D0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2CDE859-5C89-0116-2909-499BDA92B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AC88D5-2899-29F2-088C-7137E4AB4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3035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6E5F8-B13B-4217-BA11-D9DC6CEEA08A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5805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BD78-86FF-43D4-80E2-FFC80B1488B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B5F73-0A42-4725-9209-375DC8C0A6A1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2C8E4-0911-4BB0-B96B-F0826886E0A8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A3D44-C367-4A5A-9FA6-C24B5AA9EB0F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C43B-8D48-4A83-9705-CB255B7834E5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54E4-FE12-47D1-ADAD-0B5A07253172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E1EB-2484-4349-BE8D-6BBE3F535B8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5D429-4763-47F2-BF82-104035204C9B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28E7-4817-4612-8742-0E6BBAAE9156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D4D4-3AD9-421F-ADD2-9ED0C336E51B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6F5A-E011-4D77-B11C-907BC836C7A6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0521-F13B-4746-B851-671CCD5AFA3A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69B9-11C0-4C17-A489-2516726D1B8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4A70F-C2A7-4E8A-91B7-A3D4CD7CF91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8F78C-3BA4-4FF3-B4E2-6E7767113604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71E8F-8698-430A-BC6B-687ED3254FE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DCF6-2313-43DA-A1C6-1FC815F2D44C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D91FAD3-3265-4F42-B394-453865802698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I. L. Ferreira at the International Conference on Materials Science, Italy (2025)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9EAF3-42E0-3496-E58A-510F60F6B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6657" y="919787"/>
            <a:ext cx="9931791" cy="2509213"/>
          </a:xfrm>
        </p:spPr>
        <p:txBody>
          <a:bodyPr>
            <a:normAutofit fontScale="90000"/>
          </a:bodyPr>
          <a:lstStyle/>
          <a:p>
            <a:r>
              <a:rPr lang="en-US" b="1" cap="none" dirty="0">
                <a:effectLst/>
              </a:rPr>
              <a:t>On Predicting Microstructural Evolution from the Dependence of Phase Gibbs Free Energy on the Thermal Gradient</a:t>
            </a:r>
            <a:endParaRPr lang="pt-BR" cap="non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895A22-F4EA-A65D-A578-F94997685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976" y="4164037"/>
            <a:ext cx="8689976" cy="2006990"/>
          </a:xfrm>
        </p:spPr>
        <p:txBody>
          <a:bodyPr>
            <a:normAutofit lnSpcReduction="10000"/>
          </a:bodyPr>
          <a:lstStyle/>
          <a:p>
            <a:pPr algn="l"/>
            <a:r>
              <a:rPr lang="pt-BR" b="1" cap="none" dirty="0"/>
              <a:t>Prof. Ivaldo Leão Ferreira</a:t>
            </a:r>
          </a:p>
          <a:p>
            <a:pPr algn="l"/>
            <a:r>
              <a:rPr lang="en-US" cap="none" dirty="0"/>
              <a:t>Faculty of Mechanical Engineering, Federal University of Pará, UFPA</a:t>
            </a:r>
          </a:p>
          <a:p>
            <a:pPr algn="l"/>
            <a:r>
              <a:rPr lang="en-US" cap="none" dirty="0"/>
              <a:t>Augusto Corrêa Avenue 1</a:t>
            </a:r>
          </a:p>
          <a:p>
            <a:pPr algn="l"/>
            <a:r>
              <a:rPr lang="en-US" cap="none" dirty="0"/>
              <a:t>66075-110, Belém, PA, Brazil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D6DEC1-BA21-94AA-2ADF-B79D6717A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2977018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B1E74-0584-6A02-DFF9-8665D7C89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148" y="1122404"/>
            <a:ext cx="3935688" cy="2023252"/>
          </a:xfrm>
        </p:spPr>
        <p:txBody>
          <a:bodyPr/>
          <a:lstStyle/>
          <a:p>
            <a:r>
              <a:rPr lang="pt-BR" dirty="0" err="1"/>
              <a:t>Motivation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C3A16C3-FD10-4EF0-58DB-BB834E7BE54F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107765" y="358750"/>
                <a:ext cx="7624689" cy="6005219"/>
              </a:xfrm>
            </p:spPr>
            <p:txBody>
              <a:bodyPr>
                <a:noAutofit/>
              </a:bodyPr>
              <a:lstStyle/>
              <a:p>
                <a:r>
                  <a:rPr lang="en-US" sz="2200" cap="none" dirty="0"/>
                  <a:t>Our experimental </a:t>
                </a:r>
                <a:r>
                  <a:rPr lang="en-US" sz="2200" cap="none" dirty="0">
                    <a:solidFill>
                      <a:srgbClr val="FFFF00"/>
                    </a:solidFill>
                  </a:rPr>
                  <a:t>cooling rates</a:t>
                </a:r>
                <a:r>
                  <a:rPr lang="en-US" sz="2200" cap="none" dirty="0"/>
                  <a:t> range from </a:t>
                </a:r>
                <a:r>
                  <a:rPr lang="en-US" sz="2200" cap="none" dirty="0">
                    <a:solidFill>
                      <a:srgbClr val="FFFF00"/>
                    </a:solidFill>
                  </a:rPr>
                  <a:t>2100 to 120 K/min</a:t>
                </a:r>
                <a:r>
                  <a:rPr lang="en-US" sz="2200" cap="none" dirty="0"/>
                  <a:t>, whereas </a:t>
                </a:r>
                <a:r>
                  <a:rPr lang="en-US" sz="2200" cap="none" dirty="0">
                    <a:solidFill>
                      <a:srgbClr val="FFFF00"/>
                    </a:solidFill>
                  </a:rPr>
                  <a:t>equilibrium</a:t>
                </a:r>
                <a:r>
                  <a:rPr lang="en-US" sz="2200" cap="none" dirty="0"/>
                  <a:t> is reached at </a:t>
                </a:r>
                <a:r>
                  <a:rPr lang="en-US" sz="2200" cap="none" dirty="0">
                    <a:solidFill>
                      <a:srgbClr val="FFFF00"/>
                    </a:solidFill>
                  </a:rPr>
                  <a:t>less than 5 K/min</a:t>
                </a:r>
                <a:r>
                  <a:rPr lang="en-US" sz="2200" cap="none" dirty="0"/>
                  <a:t>;</a:t>
                </a:r>
              </a:p>
              <a:p>
                <a:r>
                  <a:rPr lang="en-US" sz="2200" cap="none" dirty="0"/>
                  <a:t>The </a:t>
                </a:r>
                <a:r>
                  <a:rPr lang="en-US" sz="2200" cap="none" dirty="0">
                    <a:solidFill>
                      <a:srgbClr val="FFFF00"/>
                    </a:solidFill>
                  </a:rPr>
                  <a:t>Classical Nucleation Theory (CNT)</a:t>
                </a:r>
                <a:r>
                  <a:rPr lang="en-US" sz="2200" cap="none" dirty="0"/>
                  <a:t> provides an inadequate description of thermodynamic equilibrium shifts</a:t>
                </a:r>
                <a:r>
                  <a:rPr lang="pt-BR" sz="2200" cap="none" dirty="0"/>
                  <a:t>;</a:t>
                </a:r>
              </a:p>
              <a:p>
                <a:r>
                  <a:rPr lang="pt-BR" sz="2200" cap="none" dirty="0"/>
                  <a:t>The </a:t>
                </a:r>
                <a:r>
                  <a:rPr lang="pt-BR" sz="2200" cap="none" dirty="0" err="1"/>
                  <a:t>CNT’s</a:t>
                </a:r>
                <a:r>
                  <a:rPr lang="pt-BR" sz="2200" cap="none" dirty="0"/>
                  <a:t> core </a:t>
                </a:r>
                <a:r>
                  <a:rPr lang="pt-BR" sz="2200" cap="none" dirty="0" err="1"/>
                  <a:t>equation</a:t>
                </a:r>
                <a:r>
                  <a:rPr lang="pt-BR" sz="2200" cap="none" dirty="0"/>
                  <a:t> – a </a:t>
                </a:r>
                <a:r>
                  <a:rPr lang="pt-BR" sz="2200" cap="none" dirty="0" err="1"/>
                  <a:t>limiting</a:t>
                </a:r>
                <a:r>
                  <a:rPr lang="pt-BR" sz="2200" cap="none" dirty="0"/>
                  <a:t> case for </a:t>
                </a:r>
                <a:r>
                  <a:rPr lang="pt-BR" sz="2200" cap="none" dirty="0" err="1"/>
                  <a:t>infinite</a:t>
                </a:r>
                <a:r>
                  <a:rPr lang="pt-BR" sz="2200" cap="none" dirty="0"/>
                  <a:t> volume – </a:t>
                </a:r>
                <a:r>
                  <a:rPr lang="pt-BR" sz="2200" cap="none" dirty="0" err="1">
                    <a:solidFill>
                      <a:srgbClr val="FFFF00"/>
                    </a:solidFill>
                  </a:rPr>
                  <a:t>overemphasizes</a:t>
                </a:r>
                <a:r>
                  <a:rPr lang="pt-BR" sz="2200" cap="none" dirty="0">
                    <a:solidFill>
                      <a:srgbClr val="FFFF00"/>
                    </a:solidFill>
                  </a:rPr>
                  <a:t> bulk </a:t>
                </a:r>
                <a:r>
                  <a:rPr lang="pt-BR" sz="2200" cap="none" dirty="0" err="1">
                    <a:solidFill>
                      <a:srgbClr val="FFFF00"/>
                    </a:solidFill>
                  </a:rPr>
                  <a:t>free</a:t>
                </a:r>
                <a:r>
                  <a:rPr lang="pt-BR" sz="2200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sz="2200" cap="none" dirty="0" err="1">
                    <a:solidFill>
                      <a:srgbClr val="FFFF00"/>
                    </a:solidFill>
                  </a:rPr>
                  <a:t>energy</a:t>
                </a:r>
                <a:r>
                  <a:rPr lang="pt-BR" sz="2200" cap="none" dirty="0"/>
                  <a:t> </a:t>
                </a:r>
                <a:r>
                  <a:rPr lang="pt-BR" sz="2200" cap="none" dirty="0" err="1"/>
                  <a:t>contributions</a:t>
                </a:r>
                <a:r>
                  <a:rPr lang="pt-BR" sz="2200" cap="none" dirty="0"/>
                  <a:t> </a:t>
                </a:r>
                <a:r>
                  <a:rPr lang="pt-BR" sz="2200" cap="none" dirty="0" err="1"/>
                  <a:t>when</a:t>
                </a:r>
                <a:r>
                  <a:rPr lang="pt-BR" sz="2200" cap="none" dirty="0"/>
                  <a:t> </a:t>
                </a:r>
                <a:r>
                  <a:rPr lang="pt-BR" sz="2200" cap="none" dirty="0" err="1"/>
                  <a:t>considering</a:t>
                </a:r>
                <a:r>
                  <a:rPr lang="pt-BR" sz="2200" cap="none" dirty="0"/>
                  <a:t> </a:t>
                </a:r>
                <a:r>
                  <a:rPr lang="pt-BR" sz="2200" cap="none" dirty="0" err="1"/>
                  <a:t>finite</a:t>
                </a:r>
                <a:r>
                  <a:rPr lang="pt-BR" sz="2200" cap="none" dirty="0"/>
                  <a:t> surface </a:t>
                </a:r>
                <a:r>
                  <a:rPr lang="pt-BR" sz="2200" cap="none" dirty="0" err="1"/>
                  <a:t>energies</a:t>
                </a:r>
                <a:r>
                  <a:rPr lang="pt-BR" sz="2200" cap="none" dirty="0"/>
                  <a:t>, i.e.,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sz="2200" i="1" cap="none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sz="2200" i="0" cap="none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sz="2200" i="0" cap="none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sz="2200" b="0" i="1" cap="none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pt-BR" sz="2200" b="0" i="1" cap="none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BR" sz="2200" i="1" cap="none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200" i="1" cap="none" dirty="0">
                                <a:latin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pt-BR" sz="2200" i="1" cap="none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200" i="1" cap="none" dirty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pt-BR" sz="2200" i="1" cap="none" dirty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sz="2200" cap="none" dirty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l-GR" sz="2200" i="1" cap="none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sz="2200" i="1" cap="none" dirty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l-GR" sz="2200" i="1" cap="none" dirty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</m:den>
                        </m:f>
                        <m:r>
                          <a:rPr lang="el-GR" sz="2200" i="1" cap="none" dirty="0">
                            <a:latin typeface="Cambria Math" panose="02040503050406030204" pitchFamily="18" charset="0"/>
                          </a:rPr>
                          <m:t>=3/</m:t>
                        </m:r>
                        <m:r>
                          <a:rPr lang="el-GR" sz="2200" i="1" cap="none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func>
                  </m:oMath>
                </a14:m>
                <a:r>
                  <a:rPr lang="pt-BR" sz="2200" cap="none" dirty="0"/>
                  <a:t>;</a:t>
                </a:r>
              </a:p>
              <a:p>
                <a:r>
                  <a:rPr lang="en-US" sz="2200" cap="none" dirty="0"/>
                  <a:t>The </a:t>
                </a:r>
                <a:r>
                  <a:rPr lang="en-US" sz="2200" cap="none" dirty="0">
                    <a:solidFill>
                      <a:srgbClr val="FFFF00"/>
                    </a:solidFill>
                  </a:rPr>
                  <a:t>undercooling</a:t>
                </a:r>
                <a:r>
                  <a:rPr lang="en-US" sz="2200" cap="none" dirty="0"/>
                  <a:t> is </a:t>
                </a:r>
                <a:r>
                  <a:rPr lang="en-US" sz="2200" cap="none" dirty="0">
                    <a:solidFill>
                      <a:srgbClr val="FFFF00"/>
                    </a:solidFill>
                  </a:rPr>
                  <a:t>dependent on the thermal gradient</a:t>
                </a:r>
                <a:r>
                  <a:rPr lang="en-US" sz="2200" cap="none" dirty="0"/>
                  <a:t> and surface free-energy changes considerably</a:t>
                </a:r>
                <a:r>
                  <a:rPr lang="pt-BR" sz="2200" cap="none" dirty="0"/>
                  <a:t>;</a:t>
                </a:r>
              </a:p>
              <a:p>
                <a:r>
                  <a:rPr lang="en-US" sz="2200" cap="none" dirty="0"/>
                  <a:t>Recent research by Ferreira (2024) and Ferreira et al. (2025) on phase nucleation demonstrates a closed-form </a:t>
                </a:r>
                <a:r>
                  <a:rPr lang="en-US" sz="2200" cap="none" dirty="0">
                    <a:solidFill>
                      <a:srgbClr val="FFFF00"/>
                    </a:solidFill>
                  </a:rPr>
                  <a:t>parabolic relationship</a:t>
                </a:r>
                <a:r>
                  <a:rPr lang="en-US" sz="2200" cap="none" dirty="0"/>
                  <a:t> in terms of </a:t>
                </a:r>
                <a:r>
                  <a:rPr lang="en-US" sz="2200" cap="none" dirty="0">
                    <a:solidFill>
                      <a:srgbClr val="FFFF00"/>
                    </a:solidFill>
                  </a:rPr>
                  <a:t>the nucleation radius</a:t>
                </a:r>
                <a:r>
                  <a:rPr lang="en-US" sz="2200" cap="none" dirty="0"/>
                  <a:t>.</a:t>
                </a:r>
                <a:endParaRPr lang="pt-BR" sz="2200" cap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C3A16C3-FD10-4EF0-58DB-BB834E7BE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107765" y="358750"/>
                <a:ext cx="7624689" cy="6005219"/>
              </a:xfrm>
              <a:blipFill>
                <a:blip r:embed="rId2"/>
                <a:stretch>
                  <a:fillRect l="-1119" t="-305" r="-11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ço Reservado para Rodapé 4">
            <a:extLst>
              <a:ext uri="{FF2B5EF4-FFF2-40B4-BE49-F238E27FC236}">
                <a16:creationId xmlns:a16="http://schemas.microsoft.com/office/drawing/2014/main" id="{35439987-5924-1BAD-71C4-2E10BE938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48237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A724D-2164-3FCF-7482-7053350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AF494-FBE4-9EE3-F65A-61FA39787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42" y="1104208"/>
            <a:ext cx="3935688" cy="2023252"/>
          </a:xfrm>
        </p:spPr>
        <p:txBody>
          <a:bodyPr/>
          <a:lstStyle/>
          <a:p>
            <a:r>
              <a:rPr lang="pt-BR" dirty="0" err="1"/>
              <a:t>OBjectives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0105AF-03F0-86B7-32A8-5818018A9D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31060" y="316435"/>
            <a:ext cx="6448067" cy="6043690"/>
          </a:xfrm>
        </p:spPr>
        <p:txBody>
          <a:bodyPr>
            <a:noAutofit/>
          </a:bodyPr>
          <a:lstStyle/>
          <a:p>
            <a:r>
              <a:rPr lang="en-US" sz="2200" cap="none" dirty="0"/>
              <a:t>Remain in the continuum mechanics scale to easily calculate the surface stress tensor and make DTA/DSC experiments for equilibrium conditions;</a:t>
            </a:r>
          </a:p>
          <a:p>
            <a:r>
              <a:rPr lang="en-US" sz="2200" cap="none" dirty="0"/>
              <a:t>Derive a general phase transformation equation within this domain by combining the </a:t>
            </a:r>
            <a:r>
              <a:rPr lang="en-US" sz="2200" cap="none" dirty="0">
                <a:solidFill>
                  <a:srgbClr val="FFFF00"/>
                </a:solidFill>
              </a:rPr>
              <a:t>First</a:t>
            </a:r>
            <a:r>
              <a:rPr lang="en-US" sz="2200" cap="none" dirty="0"/>
              <a:t> and </a:t>
            </a:r>
            <a:r>
              <a:rPr lang="en-US" sz="2200" cap="none" dirty="0">
                <a:solidFill>
                  <a:srgbClr val="FFFF00"/>
                </a:solidFill>
              </a:rPr>
              <a:t>Second</a:t>
            </a:r>
            <a:r>
              <a:rPr lang="en-US" sz="2200" cap="none" dirty="0"/>
              <a:t> Laws of Thermodynamics</a:t>
            </a:r>
            <a:r>
              <a:rPr lang="pt-BR" sz="2200" dirty="0"/>
              <a:t>;</a:t>
            </a:r>
          </a:p>
          <a:p>
            <a:r>
              <a:rPr lang="en-US" sz="2200" cap="none" dirty="0"/>
              <a:t>Present a novel formulation of phase nucleation</a:t>
            </a:r>
            <a:r>
              <a:rPr lang="pt-BR" sz="2200" cap="none" dirty="0"/>
              <a:t>;</a:t>
            </a:r>
          </a:p>
          <a:p>
            <a:r>
              <a:rPr lang="en-US" sz="2200" cap="none" dirty="0"/>
              <a:t>Apply fundamental thermodynamic variables and functions to analyze this new field</a:t>
            </a:r>
            <a:r>
              <a:rPr lang="pt-BR" sz="2200" cap="none" dirty="0"/>
              <a:t>;</a:t>
            </a:r>
          </a:p>
          <a:p>
            <a:r>
              <a:rPr lang="en-US" sz="2200" cap="none" dirty="0">
                <a:solidFill>
                  <a:srgbClr val="FFFF00"/>
                </a:solidFill>
              </a:rPr>
              <a:t>Investigate the effects of thermal gradients on free Energies</a:t>
            </a:r>
            <a:r>
              <a:rPr lang="pt-BR" sz="2200" cap="none" dirty="0">
                <a:solidFill>
                  <a:srgbClr val="FFFF00"/>
                </a:solidFill>
              </a:rPr>
              <a:t>;</a:t>
            </a:r>
            <a:endParaRPr lang="pt-BR" sz="2400" cap="none" dirty="0"/>
          </a:p>
          <a:p>
            <a:endParaRPr lang="pt-BR" sz="2400" cap="none" dirty="0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EAA67737-0EA4-2B26-6239-3390E3AB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1338532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4C348-8D4B-514A-C840-3EFB680AE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b="1" cap="none" dirty="0">
                <a:effectLst/>
              </a:rPr>
              <a:t>A </a:t>
            </a:r>
            <a:r>
              <a:rPr lang="pt-BR" sz="4000" b="1" cap="none" dirty="0" err="1">
                <a:effectLst/>
              </a:rPr>
              <a:t>Proper</a:t>
            </a:r>
            <a:r>
              <a:rPr lang="pt-BR" sz="4000" b="1" cap="none" dirty="0">
                <a:effectLst/>
              </a:rPr>
              <a:t> Field for </a:t>
            </a:r>
            <a:r>
              <a:rPr lang="pt-BR" sz="4000" b="1" cap="none" dirty="0" err="1">
                <a:effectLst/>
              </a:rPr>
              <a:t>Phase</a:t>
            </a:r>
            <a:r>
              <a:rPr lang="pt-BR" sz="4000" b="1" cap="none" dirty="0">
                <a:effectLst/>
              </a:rPr>
              <a:t> </a:t>
            </a:r>
            <a:r>
              <a:rPr lang="pt-BR" sz="4000" b="1" cap="none" dirty="0" err="1">
                <a:effectLst/>
              </a:rPr>
              <a:t>Transformation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14826CD-5969-1183-A6BE-771EFA51EE7F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74" y="2367092"/>
                <a:ext cx="10363826" cy="3916477"/>
              </a:xfrm>
            </p:spPr>
            <p:txBody>
              <a:bodyPr>
                <a:normAutofit/>
              </a:bodyPr>
              <a:lstStyle/>
              <a:p>
                <a:r>
                  <a:rPr lang="pt-BR" cap="none" dirty="0"/>
                  <a:t>The </a:t>
                </a:r>
                <a:r>
                  <a:rPr lang="pt-BR" cap="none" dirty="0" err="1"/>
                  <a:t>First</a:t>
                </a:r>
                <a:r>
                  <a:rPr lang="pt-BR" cap="none" dirty="0"/>
                  <a:t> Law </a:t>
                </a:r>
                <a:r>
                  <a:rPr lang="pt-BR" cap="none" dirty="0" err="1"/>
                  <a:t>of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Thermodynamics</a:t>
                </a:r>
                <a:r>
                  <a:rPr lang="pt-BR" cap="none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i="1" cap="none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b="0" i="0" cap="none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pt-BR" cap="none" dirty="0"/>
              </a:p>
              <a:p>
                <a:r>
                  <a:rPr lang="pt-BR" cap="none" dirty="0" err="1"/>
                  <a:t>This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means</a:t>
                </a:r>
                <a:r>
                  <a:rPr lang="pt-BR" cap="none" dirty="0"/>
                  <a:t>, </a:t>
                </a:r>
                <a14:m>
                  <m:oMath xmlns:m="http://schemas.openxmlformats.org/officeDocument/2006/math"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cap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r>
                  <a:rPr lang="pt-BR" cap="none" dirty="0"/>
                  <a:t>. </a:t>
                </a:r>
                <a:r>
                  <a:rPr lang="pt-BR" cap="none" dirty="0">
                    <a:solidFill>
                      <a:srgbClr val="FFFF00"/>
                    </a:solidFill>
                  </a:rPr>
                  <a:t>Energy </a:t>
                </a:r>
                <a14:m>
                  <m:oMath xmlns:m="http://schemas.openxmlformats.org/officeDocument/2006/math">
                    <m:r>
                      <a:rPr lang="pt-BR" i="1" cap="none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cap="none" dirty="0"/>
                  <a:t> </a:t>
                </a:r>
                <a:r>
                  <a:rPr lang="pt-BR" cap="none" dirty="0" err="1"/>
                  <a:t>is</a:t>
                </a:r>
                <a:r>
                  <a:rPr lang="pt-BR" cap="none" dirty="0"/>
                  <a:t> a </a:t>
                </a:r>
                <a:r>
                  <a:rPr lang="pt-BR" cap="none" dirty="0">
                    <a:solidFill>
                      <a:srgbClr val="FFFF00"/>
                    </a:solidFill>
                  </a:rPr>
                  <a:t>point </a:t>
                </a:r>
                <a:r>
                  <a:rPr lang="pt-BR" cap="none" dirty="0" err="1">
                    <a:solidFill>
                      <a:srgbClr val="FFFF00"/>
                    </a:solidFill>
                  </a:rPr>
                  <a:t>function</a:t>
                </a:r>
                <a:r>
                  <a:rPr lang="pt-BR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cap="none" dirty="0" err="1"/>
                  <a:t>and</a:t>
                </a:r>
                <a:r>
                  <a:rPr lang="pt-BR" cap="none" dirty="0"/>
                  <a:t>,  </a:t>
                </a:r>
                <a14:m>
                  <m:oMath xmlns:m="http://schemas.openxmlformats.org/officeDocument/2006/math">
                    <m:r>
                      <a:rPr lang="pt-BR" i="1" cap="none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cap="none" dirty="0"/>
                  <a:t> and </a:t>
                </a:r>
                <a14:m>
                  <m:oMath xmlns:m="http://schemas.openxmlformats.org/officeDocument/2006/math">
                    <m:r>
                      <a:rPr lang="pt-BR" i="1" cap="none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pt-BR" cap="none" dirty="0"/>
                  <a:t> are </a:t>
                </a:r>
                <a:r>
                  <a:rPr lang="pt-BR" cap="none" dirty="0">
                    <a:solidFill>
                      <a:srgbClr val="FFFF00"/>
                    </a:solidFill>
                  </a:rPr>
                  <a:t>path-</a:t>
                </a:r>
                <a:r>
                  <a:rPr lang="pt-BR" cap="none" dirty="0" err="1">
                    <a:solidFill>
                      <a:srgbClr val="FFFF00"/>
                    </a:solidFill>
                  </a:rPr>
                  <a:t>dependent</a:t>
                </a:r>
                <a:r>
                  <a:rPr lang="pt-BR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cap="none" dirty="0" err="1">
                    <a:solidFill>
                      <a:srgbClr val="FFFF00"/>
                    </a:solidFill>
                  </a:rPr>
                  <a:t>quantities</a:t>
                </a:r>
                <a:r>
                  <a:rPr lang="pt-BR" cap="none" dirty="0"/>
                  <a:t>, i.e., </a:t>
                </a:r>
                <a:r>
                  <a:rPr lang="pt-BR" cap="none" dirty="0" err="1"/>
                  <a:t>line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functions</a:t>
                </a:r>
                <a:endParaRPr lang="pt-BR" cap="non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t-BR" i="1" cap="none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pt-BR" i="1" cap="none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t-BR" i="1" cap="none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pt-BR" i="1" cap="non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i="1" cap="none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pt-BR" cap="none" dirty="0"/>
              </a:p>
              <a:p>
                <a:r>
                  <a:rPr lang="pt-BR" cap="none" dirty="0" err="1">
                    <a:solidFill>
                      <a:srgbClr val="FFFF00"/>
                    </a:solidFill>
                  </a:rPr>
                  <a:t>Let’s</a:t>
                </a:r>
                <a:r>
                  <a:rPr lang="pt-BR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cap="none" dirty="0" err="1">
                    <a:solidFill>
                      <a:srgbClr val="FFFF00"/>
                    </a:solidFill>
                  </a:rPr>
                  <a:t>then</a:t>
                </a:r>
                <a:r>
                  <a:rPr lang="pt-BR" cap="none" dirty="0">
                    <a:solidFill>
                      <a:srgbClr val="FFFF00"/>
                    </a:solidFill>
                  </a:rPr>
                  <a:t> define a new </a:t>
                </a:r>
                <a:r>
                  <a:rPr lang="pt-BR" cap="none" dirty="0" err="1">
                    <a:solidFill>
                      <a:srgbClr val="FFFF00"/>
                    </a:solidFill>
                  </a:rPr>
                  <a:t>field</a:t>
                </a:r>
                <a:r>
                  <a:rPr lang="pt-BR" cap="none" dirty="0"/>
                  <a:t>, </a:t>
                </a:r>
                <a:r>
                  <a:rPr lang="pt-BR" cap="none" dirty="0" err="1"/>
                  <a:t>by</a:t>
                </a:r>
                <a:r>
                  <a:rPr lang="pt-BR" cap="none" dirty="0"/>
                  <a:t> making </a:t>
                </a:r>
                <a:r>
                  <a:rPr lang="pt-BR" cap="none" dirty="0" err="1"/>
                  <a:t>from</a:t>
                </a:r>
                <a:r>
                  <a:rPr lang="pt-BR" cap="none" dirty="0"/>
                  <a:t> tensor </a:t>
                </a:r>
                <a:r>
                  <a:rPr lang="pt-BR" cap="none" dirty="0" err="1"/>
                  <a:t>calculus</a:t>
                </a:r>
                <a:r>
                  <a:rPr lang="pt-BR" cap="none" dirty="0"/>
                  <a:t>, </a:t>
                </a:r>
                <a14:m>
                  <m:oMath xmlns:m="http://schemas.openxmlformats.org/officeDocument/2006/math">
                    <m:r>
                      <a:rPr lang="pt-BR" i="1" cap="none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𝑑𝐸</m:t>
                    </m:r>
                    <m:r>
                      <a:rPr lang="pt-BR" b="0" i="1" cap="none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pt-BR" b="0" i="1" cap="none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𝜕</m:t>
                    </m:r>
                    <m:r>
                      <a:rPr lang="pt-BR" i="1" cap="none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b="0" i="1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pt-BR" b="0" i="1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cap="none" dirty="0"/>
                  <a:t>, in </a:t>
                </a:r>
                <a:r>
                  <a:rPr lang="pt-BR" cap="none" dirty="0" err="1"/>
                  <a:t>relation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to</a:t>
                </a:r>
                <a:r>
                  <a:rPr lang="pt-BR" cap="none" dirty="0"/>
                  <a:t> </a:t>
                </a:r>
                <a14:m>
                  <m:oMath xmlns:m="http://schemas.openxmlformats.org/officeDocument/2006/math">
                    <m:r>
                      <a:rPr lang="pt-BR" i="1" cap="none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cap="none" dirty="0"/>
                  <a:t> </a:t>
                </a:r>
                <a:r>
                  <a:rPr lang="pt-BR" cap="none" dirty="0" err="1"/>
                  <a:t>primitive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variable</a:t>
                </a:r>
                <a:r>
                  <a:rPr lang="pt-BR" cap="none" dirty="0"/>
                  <a:t>, </a:t>
                </a:r>
                <a:r>
                  <a:rPr lang="pt-BR" cap="none" dirty="0" err="1"/>
                  <a:t>we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can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express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the</a:t>
                </a:r>
                <a:r>
                  <a:rPr lang="pt-BR" cap="none" dirty="0"/>
                  <a:t> </a:t>
                </a:r>
                <a:r>
                  <a:rPr lang="pt-BR" b="1" cap="none" dirty="0">
                    <a:solidFill>
                      <a:srgbClr val="FFFF00"/>
                    </a:solidFill>
                  </a:rPr>
                  <a:t>1</a:t>
                </a:r>
                <a:r>
                  <a:rPr lang="pt-BR" b="1" cap="none" baseline="30000" dirty="0">
                    <a:solidFill>
                      <a:srgbClr val="FFFF00"/>
                    </a:solidFill>
                  </a:rPr>
                  <a:t>st</a:t>
                </a:r>
                <a:r>
                  <a:rPr lang="pt-BR" b="1" cap="none" dirty="0">
                    <a:solidFill>
                      <a:srgbClr val="FFFF00"/>
                    </a:solidFill>
                  </a:rPr>
                  <a:t> Law </a:t>
                </a:r>
                <a:r>
                  <a:rPr lang="pt-BR" b="1" cap="none" dirty="0" err="1">
                    <a:solidFill>
                      <a:srgbClr val="FFFF00"/>
                    </a:solidFill>
                  </a:rPr>
                  <a:t>of</a:t>
                </a:r>
                <a:r>
                  <a:rPr lang="pt-BR" b="1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b="1" cap="none" dirty="0" err="1">
                    <a:solidFill>
                      <a:srgbClr val="FFFF00"/>
                    </a:solidFill>
                  </a:rPr>
                  <a:t>Thermodynamics</a:t>
                </a:r>
                <a:r>
                  <a:rPr lang="pt-BR" cap="none" dirty="0"/>
                  <a:t>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pt-BR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d>
                            <m:dPr>
                              <m:ctrlPr>
                                <a:rPr lang="pt-BR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cap="none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pt-BR" b="0" i="1" cap="none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cap="none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e>
                      </m:d>
                      <m:r>
                        <a:rPr lang="pt-BR" i="1" cap="none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pt-BR" cap="none" dirty="0"/>
              </a:p>
              <a:p>
                <a:endParaRPr lang="pt-BR" cap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14826CD-5969-1183-A6BE-771EFA51EE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74" y="2367092"/>
                <a:ext cx="10363826" cy="3916477"/>
              </a:xfrm>
              <a:blipFill>
                <a:blip r:embed="rId2"/>
                <a:stretch>
                  <a:fillRect l="-706" t="-3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7F5B9B9F-B2A8-06E7-BAC8-B93814BBB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2943674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32D77-86DB-577E-74DE-4CE1FF859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C62E8-FD8A-A399-4BD1-767F4B4F2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b="1" cap="none" dirty="0">
                <a:effectLst/>
              </a:rPr>
              <a:t>A </a:t>
            </a:r>
            <a:r>
              <a:rPr lang="pt-BR" sz="4000" b="1" cap="none" dirty="0" err="1">
                <a:effectLst/>
              </a:rPr>
              <a:t>Proper</a:t>
            </a:r>
            <a:r>
              <a:rPr lang="pt-BR" sz="4000" b="1" cap="none" dirty="0">
                <a:effectLst/>
              </a:rPr>
              <a:t> Field for </a:t>
            </a:r>
            <a:r>
              <a:rPr lang="pt-BR" sz="4000" b="1" cap="none" dirty="0" err="1">
                <a:effectLst/>
              </a:rPr>
              <a:t>Phase</a:t>
            </a:r>
            <a:r>
              <a:rPr lang="pt-BR" sz="4000" b="1" cap="none" dirty="0">
                <a:effectLst/>
              </a:rPr>
              <a:t> </a:t>
            </a:r>
            <a:r>
              <a:rPr lang="pt-BR" sz="4000" b="1" cap="none" dirty="0" err="1">
                <a:effectLst/>
              </a:rPr>
              <a:t>Transformation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523D50E-8E5A-97BB-4BB6-569E44D6592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74" y="1983550"/>
                <a:ext cx="10363826" cy="415465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pt-BR" cap="none" dirty="0"/>
                  <a:t>The </a:t>
                </a:r>
                <a:r>
                  <a:rPr lang="pt-BR" cap="none" dirty="0" err="1"/>
                  <a:t>thermal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field</a:t>
                </a:r>
                <a:r>
                  <a:rPr lang="pt-BR" cap="none" dirty="0"/>
                  <a:t> </a:t>
                </a:r>
                <a14:m>
                  <m:oMath xmlns:m="http://schemas.openxmlformats.org/officeDocument/2006/math">
                    <m:r>
                      <a:rPr lang="pt-BR" b="1" cap="none">
                        <a:latin typeface="Cambria Math" panose="02040503050406030204" pitchFamily="18" charset="0"/>
                      </a:rPr>
                      <m:t>𝐓</m:t>
                    </m:r>
                  </m:oMath>
                </a14:m>
                <a:r>
                  <a:rPr lang="pt-BR" cap="none" dirty="0"/>
                  <a:t> </a:t>
                </a:r>
                <a:r>
                  <a:rPr lang="pt-BR" cap="none" dirty="0" err="1"/>
                  <a:t>can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be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defined</a:t>
                </a:r>
                <a:r>
                  <a:rPr lang="pt-BR" cap="none" dirty="0"/>
                  <a:t> as:</a:t>
                </a:r>
              </a:p>
              <a:p>
                <a:r>
                  <a:rPr lang="en-US" cap="none" noProof="0" dirty="0"/>
                  <a:t>Path-independent thermal field gradient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cap="none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cap="none" noProof="0" smtClean="0"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pt-BR" b="1" i="0" cap="none" noProof="0" smtClean="0">
                              <a:latin typeface="Cambria Math" panose="02040503050406030204" pitchFamily="18" charset="0"/>
                            </a:rPr>
                            <m:t>𝐩𝐢</m:t>
                          </m:r>
                        </m:sub>
                      </m:sSub>
                      <m:r>
                        <a:rPr lang="en-US" i="1" cap="none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 cap="none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cap="none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cap="none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cap="none" noProof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cap="none" noProof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 i="1" cap="none" noProof="0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 cap="none" noProof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 cap="none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cap="none" noProof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i="1" cap="none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cap="none" noProof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e>
                      </m:d>
                      <m:r>
                        <a:rPr lang="en-US" i="1" cap="none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 cap="none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cap="none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cap="none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cap="none" noProof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cap="none" noProof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 i="1" cap="none" noProof="0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 cap="none" noProof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r>
                            <a:rPr lang="en-US" i="1" cap="none" noProof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en-US" cap="none" noProof="0" dirty="0"/>
              </a:p>
              <a:p>
                <a:r>
                  <a:rPr lang="en-US" cap="none" noProof="0" dirty="0"/>
                  <a:t>Path-dependent thermal field</a:t>
                </a:r>
                <a:r>
                  <a:rPr lang="en-US" cap="none" dirty="0"/>
                  <a:t> gradient</a:t>
                </a:r>
                <a:endParaRPr lang="en-US" cap="none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1" cap="none" smtClean="0"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pt-BR" b="1" i="0" cap="none" smtClean="0">
                              <a:latin typeface="Cambria Math" panose="02040503050406030204" pitchFamily="18" charset="0"/>
                            </a:rPr>
                            <m:t>𝐩𝐝</m:t>
                          </m:r>
                        </m:sub>
                      </m:sSub>
                      <m:r>
                        <a:rPr lang="pt-BR" b="1" i="0" cap="none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cap="none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r>
                            <a:rPr lang="en-US" i="1" cap="none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i="1" cap="none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r>
                            <a:rPr lang="en-US" i="1" cap="none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cap="none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r>
                            <a:rPr lang="pt-BR" b="0" i="1" cap="none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en-US" cap="none" noProof="0" dirty="0"/>
              </a:p>
              <a:p>
                <a:r>
                  <a:rPr lang="pt-BR" cap="none" dirty="0" err="1"/>
                  <a:t>Thermal</a:t>
                </a:r>
                <a:r>
                  <a:rPr lang="pt-BR" cap="none" dirty="0"/>
                  <a:t>-fields </a:t>
                </a:r>
                <a:r>
                  <a:rPr lang="pt-BR" cap="none" dirty="0" err="1"/>
                  <a:t>relationship</a:t>
                </a:r>
                <a:r>
                  <a:rPr lang="pt-BR" cap="none" dirty="0"/>
                  <a:t> </a:t>
                </a:r>
                <a:r>
                  <a:rPr lang="en-US" cap="none" dirty="0"/>
                  <a:t>gradient</a:t>
                </a:r>
                <a:endParaRPr lang="pt-BR" cap="non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cap="non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cap="none"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pt-BR" b="1" cap="none">
                              <a:latin typeface="Cambria Math" panose="02040503050406030204" pitchFamily="18" charset="0"/>
                            </a:rPr>
                            <m:t>𝐩𝐝</m:t>
                          </m:r>
                        </m:sub>
                      </m:sSub>
                      <m:r>
                        <a:rPr lang="pt-BR" b="1" cap="none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cap="none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r>
                            <a:rPr lang="en-US" i="1" cap="none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i="1" cap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b="1" cap="non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cap="none"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pt-BR" b="1" cap="none">
                              <a:latin typeface="Cambria Math" panose="02040503050406030204" pitchFamily="18" charset="0"/>
                            </a:rPr>
                            <m:t>𝐩𝐢</m:t>
                          </m:r>
                        </m:sub>
                      </m:sSub>
                      <m:r>
                        <a:rPr lang="pt-BR" i="1" cap="none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cap="none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pt-BR" cap="none" dirty="0"/>
              </a:p>
              <a:p>
                <a:endParaRPr lang="pt-BR" cap="none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523D50E-8E5A-97BB-4BB6-569E44D659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74" y="1983550"/>
                <a:ext cx="10363826" cy="4154658"/>
              </a:xfrm>
              <a:blipFill>
                <a:blip r:embed="rId2"/>
                <a:stretch>
                  <a:fillRect l="-706" t="-88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A9C05909-F5D8-FEB3-3087-7422DB8E4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2819148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17B2-DEA5-BF27-6BC2-A8CD7D76C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5E125-44ED-80D9-FA7A-D397DD7FB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b="1" cap="none" dirty="0">
                <a:effectLst/>
              </a:rPr>
              <a:t>A </a:t>
            </a:r>
            <a:r>
              <a:rPr lang="pt-BR" sz="4000" b="1" cap="none" dirty="0" err="1">
                <a:effectLst/>
              </a:rPr>
              <a:t>Proper</a:t>
            </a:r>
            <a:r>
              <a:rPr lang="pt-BR" sz="4000" b="1" cap="none" dirty="0">
                <a:effectLst/>
              </a:rPr>
              <a:t> Field for </a:t>
            </a:r>
            <a:r>
              <a:rPr lang="pt-BR" sz="4000" b="1" cap="none" dirty="0" err="1">
                <a:effectLst/>
              </a:rPr>
              <a:t>Phase</a:t>
            </a:r>
            <a:r>
              <a:rPr lang="pt-BR" sz="4000" b="1" cap="none" dirty="0">
                <a:effectLst/>
              </a:rPr>
              <a:t> </a:t>
            </a:r>
            <a:r>
              <a:rPr lang="pt-BR" sz="4000" b="1" cap="none" dirty="0" err="1">
                <a:effectLst/>
              </a:rPr>
              <a:t>Transformation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1769E80-FFB1-5741-C470-C274AB9B803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4399" y="2113874"/>
                <a:ext cx="10363826" cy="412560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pt-BR" cap="none" dirty="0"/>
                  <a:t>By </a:t>
                </a:r>
                <a:r>
                  <a:rPr lang="pt-BR" cap="none" dirty="0" err="1"/>
                  <a:t>considering</a:t>
                </a:r>
                <a:r>
                  <a:rPr lang="pt-BR" cap="none" dirty="0"/>
                  <a:t> LHS </a:t>
                </a:r>
                <a:r>
                  <a:rPr lang="pt-BR" cap="none" dirty="0" err="1"/>
                  <a:t>and</a:t>
                </a:r>
                <a:r>
                  <a:rPr lang="pt-BR" cap="none" dirty="0"/>
                  <a:t> RHS, </a:t>
                </a:r>
                <a:r>
                  <a:rPr lang="pt-BR" cap="none" dirty="0" err="1"/>
                  <a:t>the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following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expression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can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be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deduced</a:t>
                </a:r>
                <a:r>
                  <a:rPr lang="pt-BR" cap="none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pt-BR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d>
                            <m:d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e>
                      </m:d>
                      <m:r>
                        <a:rPr lang="pt-BR" b="0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b="0" i="1" cap="none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b="0" i="1" cap="none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b="0" i="1" cap="none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pt-BR" b="0" i="1" cap="none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r>
                            <a:rPr lang="pt-BR" b="0" i="1" cap="none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b="0" i="1" cap="none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b="0" i="1" cap="none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b="0" i="1" cap="none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r>
                            <a:rPr lang="pt-BR" i="1" cap="none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pt-BR" cap="none" dirty="0"/>
              </a:p>
              <a:p>
                <a:pPr marL="0" indent="0">
                  <a:buNone/>
                </a:pPr>
                <a:r>
                  <a:rPr lang="pt-BR" cap="none" dirty="0" err="1"/>
                  <a:t>By</a:t>
                </a:r>
                <a:r>
                  <a:rPr lang="pt-BR" cap="none" dirty="0"/>
                  <a:t> the First Law, </a:t>
                </a:r>
                <a14:m>
                  <m:oMath xmlns:m="http://schemas.openxmlformats.org/officeDocument/2006/math"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pt-BR" i="1" cap="none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i="1" cap="none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 cap="none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cap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r>
                  <a:rPr lang="pt-BR" cap="none" dirty="0"/>
                  <a:t>,  presents </a:t>
                </a:r>
                <a14:m>
                  <m:oMath xmlns:m="http://schemas.openxmlformats.org/officeDocument/2006/math">
                    <m:r>
                      <a:rPr lang="pt-BR" i="1" cap="none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cap="none" dirty="0"/>
                  <a:t> and </a:t>
                </a:r>
                <a14:m>
                  <m:oMath xmlns:m="http://schemas.openxmlformats.org/officeDocument/2006/math">
                    <m:r>
                      <a:rPr lang="pt-BR" i="1" cap="none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pt-BR" cap="none" dirty="0"/>
                  <a:t> as </a:t>
                </a:r>
                <a:r>
                  <a:rPr lang="pt-BR" cap="none" dirty="0">
                    <a:solidFill>
                      <a:srgbClr val="FFFF00"/>
                    </a:solidFill>
                  </a:rPr>
                  <a:t>independent </a:t>
                </a:r>
                <a:r>
                  <a:rPr lang="pt-BR" cap="none" dirty="0" err="1">
                    <a:solidFill>
                      <a:srgbClr val="FFFF00"/>
                    </a:solidFill>
                  </a:rPr>
                  <a:t>variables</a:t>
                </a:r>
                <a:r>
                  <a:rPr lang="pt-BR" cap="none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i="1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d>
                      <m:dPr>
                        <m:begChr m:val="["/>
                        <m:endChr m:val="]"/>
                        <m:ctrlPr>
                          <a:rPr lang="pt-BR" i="1" cap="non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i="1" cap="none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1" cap="none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i="1" cap="none"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pt-BR" i="1" cap="none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pt-BR" i="1" cap="none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den>
                        </m:f>
                        <m:r>
                          <a:rPr lang="pt-BR" i="1" cap="none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pt-BR" cap="none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i="1" cap="non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d>
                      <m:dPr>
                        <m:begChr m:val="["/>
                        <m:endChr m:val="]"/>
                        <m:ctrlPr>
                          <a:rPr lang="pt-BR" i="1" cap="non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i="1" cap="none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1" cap="none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i="1" cap="none"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pt-BR" i="1" cap="none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i="1" cap="none">
                                <a:latin typeface="Cambria Math" panose="02040503050406030204" pitchFamily="18" charset="0"/>
                              </a:rPr>
                              <m:t>𝐸</m:t>
                            </m:r>
                          </m:den>
                        </m:f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r>
                  <a:rPr lang="pt-BR" cap="none" dirty="0"/>
                  <a:t> </a:t>
                </a:r>
                <a:r>
                  <a:rPr lang="pt-BR" cap="none" dirty="0" err="1">
                    <a:solidFill>
                      <a:srgbClr val="FFFF00"/>
                    </a:solidFill>
                  </a:rPr>
                  <a:t>can</a:t>
                </a:r>
                <a:r>
                  <a:rPr lang="pt-BR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cap="none" dirty="0" err="1">
                    <a:solidFill>
                      <a:srgbClr val="FFFF00"/>
                    </a:solidFill>
                  </a:rPr>
                  <a:t>be</a:t>
                </a:r>
                <a:r>
                  <a:rPr lang="pt-BR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cap="none" dirty="0" err="1">
                    <a:solidFill>
                      <a:srgbClr val="FFFF00"/>
                    </a:solidFill>
                  </a:rPr>
                  <a:t>neglacted</a:t>
                </a:r>
                <a:r>
                  <a:rPr lang="pt-BR" cap="none" dirty="0"/>
                  <a:t>. </a:t>
                </a:r>
                <a:r>
                  <a:rPr lang="pt-BR" cap="none" dirty="0" err="1"/>
                  <a:t>Finally</a:t>
                </a:r>
                <a:r>
                  <a:rPr lang="pt-BR" cap="none" dirty="0"/>
                  <a:t>, </a:t>
                </a:r>
                <a:r>
                  <a:rPr lang="pt-BR" cap="none" dirty="0" err="1"/>
                  <a:t>the</a:t>
                </a:r>
                <a:r>
                  <a:rPr lang="pt-BR" cap="none" dirty="0"/>
                  <a:t> </a:t>
                </a:r>
                <a:r>
                  <a:rPr lang="pt-BR" cap="none" dirty="0">
                    <a:solidFill>
                      <a:srgbClr val="FFFF00"/>
                    </a:solidFill>
                  </a:rPr>
                  <a:t>path-</a:t>
                </a:r>
                <a:r>
                  <a:rPr lang="pt-BR" cap="none" dirty="0" err="1">
                    <a:solidFill>
                      <a:srgbClr val="FFFF00"/>
                    </a:solidFill>
                  </a:rPr>
                  <a:t>dependent</a:t>
                </a:r>
                <a:r>
                  <a:rPr lang="pt-BR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cap="none" dirty="0" err="1">
                    <a:solidFill>
                      <a:srgbClr val="FFFF00"/>
                    </a:solidFill>
                  </a:rPr>
                  <a:t>thermal</a:t>
                </a:r>
                <a:r>
                  <a:rPr lang="pt-BR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cap="none" dirty="0" err="1">
                    <a:solidFill>
                      <a:srgbClr val="FFFF00"/>
                    </a:solidFill>
                  </a:rPr>
                  <a:t>field</a:t>
                </a:r>
                <a:r>
                  <a:rPr lang="pt-BR" cap="none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b="1" cap="none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𝐓</m:t>
                    </m:r>
                  </m:oMath>
                </a14:m>
                <a:r>
                  <a:rPr lang="pt-BR" cap="none" dirty="0"/>
                  <a:t> in [</a:t>
                </a:r>
                <a:r>
                  <a:rPr lang="pt-BR" i="1" cap="none" dirty="0"/>
                  <a:t>K</a:t>
                </a:r>
                <a:r>
                  <a:rPr lang="pt-BR" cap="none" dirty="0"/>
                  <a:t>] </a:t>
                </a:r>
                <a:r>
                  <a:rPr lang="pt-BR" cap="none" dirty="0" err="1"/>
                  <a:t>can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defined</a:t>
                </a:r>
                <a:r>
                  <a:rPr lang="pt-BR" cap="none" dirty="0"/>
                  <a:t> as,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pt-BR" b="1" cap="none"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pt-BR" b="1" i="0" cap="none" smtClean="0">
                              <a:latin typeface="Cambria Math" panose="02040503050406030204" pitchFamily="18" charset="0"/>
                            </a:rPr>
                            <m:t>𝐩𝐝</m:t>
                          </m:r>
                        </m:sub>
                      </m:sSub>
                      <m:r>
                        <a:rPr lang="pt-BR" b="0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pt-BR" cap="none" dirty="0"/>
              </a:p>
              <a:p>
                <a:pPr marL="0" indent="0">
                  <a:buNone/>
                </a:pPr>
                <a:r>
                  <a:rPr lang="pt-BR" cap="none" dirty="0"/>
                  <a:t>and, </a:t>
                </a:r>
                <a:r>
                  <a:rPr lang="pt-BR" cap="none" dirty="0" err="1"/>
                  <a:t>field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derived</a:t>
                </a:r>
                <a:r>
                  <a:rPr lang="pt-BR" cap="none" dirty="0"/>
                  <a:t> in 2024 in Ferreira [2024] </a:t>
                </a:r>
                <a:r>
                  <a:rPr lang="pt-BR" cap="none" dirty="0">
                    <a:solidFill>
                      <a:srgbClr val="FFFF00"/>
                    </a:solidFill>
                  </a:rPr>
                  <a:t>DOI: 10.1016/j.physb.2024.416494</a:t>
                </a:r>
                <a:r>
                  <a:rPr lang="pt-BR" cap="none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b="1" cap="none"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pt-BR" i="1" cap="none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d>
                            <m:d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e>
                      </m:d>
                      <m:r>
                        <a:rPr lang="pt-BR" i="1" cap="none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den>
                          </m:f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pt-BR" i="1" cap="none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pt-BR" cap="none" dirty="0"/>
              </a:p>
              <a:p>
                <a:endParaRPr lang="pt-BR" cap="none" dirty="0"/>
              </a:p>
              <a:p>
                <a:endParaRPr lang="pt-BR" cap="none" dirty="0"/>
              </a:p>
              <a:p>
                <a:endParaRPr lang="pt-BR" cap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1769E80-FFB1-5741-C470-C274AB9B80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4399" y="2113874"/>
                <a:ext cx="10363826" cy="4125609"/>
              </a:xfrm>
              <a:blipFill>
                <a:blip r:embed="rId2"/>
                <a:stretch>
                  <a:fillRect l="-706" t="-10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54EF89FB-602B-06B4-F8C0-6905D32E3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1013035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EE3A-723E-FF30-6630-0BD1CE89D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42105-F429-8715-4A53-3E93DEFDA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b="1" cap="none" dirty="0">
                <a:effectLst/>
              </a:rPr>
              <a:t>A </a:t>
            </a:r>
            <a:r>
              <a:rPr lang="pt-BR" sz="4000" b="1" cap="none" dirty="0" err="1">
                <a:effectLst/>
              </a:rPr>
              <a:t>Proper</a:t>
            </a:r>
            <a:r>
              <a:rPr lang="pt-BR" sz="4000" b="1" cap="none" dirty="0">
                <a:effectLst/>
              </a:rPr>
              <a:t> Field for </a:t>
            </a:r>
            <a:r>
              <a:rPr lang="pt-BR" sz="4000" b="1" cap="none" dirty="0" err="1">
                <a:effectLst/>
              </a:rPr>
              <a:t>Phase</a:t>
            </a:r>
            <a:r>
              <a:rPr lang="pt-BR" sz="4000" b="1" cap="none" dirty="0">
                <a:effectLst/>
              </a:rPr>
              <a:t> </a:t>
            </a:r>
            <a:r>
              <a:rPr lang="pt-BR" sz="4000" b="1" cap="none" dirty="0" err="1">
                <a:effectLst/>
              </a:rPr>
              <a:t>Transformation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43E549F-10E1-06C3-5BB9-0FBDB770115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74" y="2367092"/>
                <a:ext cx="10363826" cy="391647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pt-BR" cap="none" dirty="0"/>
                  <a:t>The </a:t>
                </a:r>
                <a:r>
                  <a:rPr lang="pt-BR" cap="none" dirty="0" err="1"/>
                  <a:t>energy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can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be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written</a:t>
                </a:r>
                <a:r>
                  <a:rPr lang="pt-BR" cap="none" dirty="0"/>
                  <a:t> in </a:t>
                </a:r>
                <a:r>
                  <a:rPr lang="pt-BR" cap="none" dirty="0" err="1"/>
                  <a:t>terms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of</a:t>
                </a:r>
                <a:r>
                  <a:rPr lang="pt-BR" cap="none" dirty="0"/>
                  <a:t> </a:t>
                </a:r>
                <a14:m>
                  <m:oMath xmlns:m="http://schemas.openxmlformats.org/officeDocument/2006/math">
                    <m:r>
                      <a:rPr lang="pt-BR" i="1" cap="none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pt-BR" b="0" i="1" cap="none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l-GR" b="0" i="1" cap="none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b="0" i="1" cap="none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pt-BR" b="0" i="1" cap="none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𝑜𝑡ℎ𝑒𝑟</m:t>
                        </m:r>
                      </m:sub>
                    </m:sSub>
                  </m:oMath>
                </a14:m>
                <a:r>
                  <a:rPr lang="pt-BR" cap="none" dirty="0"/>
                  <a:t>, (</a:t>
                </a:r>
                <a:r>
                  <a:rPr lang="pt-BR" dirty="0">
                    <a:solidFill>
                      <a:srgbClr val="FFFF00"/>
                    </a:solidFill>
                  </a:rPr>
                  <a:t>Emmy </a:t>
                </a:r>
                <a:r>
                  <a:rPr lang="pt-BR" dirty="0" err="1">
                    <a:solidFill>
                      <a:srgbClr val="FFFF00"/>
                    </a:solidFill>
                  </a:rPr>
                  <a:t>Noether’s</a:t>
                </a:r>
                <a:r>
                  <a:rPr lang="pt-BR" dirty="0">
                    <a:solidFill>
                      <a:srgbClr val="FFFF00"/>
                    </a:solidFill>
                  </a:rPr>
                  <a:t> SIMMETRY</a:t>
                </a:r>
                <a:r>
                  <a:rPr lang="pt-BR" dirty="0"/>
                  <a:t>) </a:t>
                </a:r>
                <a:endParaRPr lang="pt-BR" cap="non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pt-BR" b="1" i="0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</m:t>
                      </m:r>
                      <m:r>
                        <a:rPr lang="pt-BR" b="0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b="0" i="1" cap="none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den>
                          </m:f>
                          <m:r>
                            <a:rPr lang="pt-BR" b="0" i="1" cap="none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r>
                            <a:rPr lang="pt-BR" i="1" cap="none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den>
                          </m:f>
                          <m:d>
                            <m:d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l-GR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𝑜𝑡ℎ𝑒𝑟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pt-BR" i="1" cap="none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pt-BR" cap="none" dirty="0"/>
              </a:p>
              <a:p>
                <a:pPr marL="0" indent="0">
                  <a:buNone/>
                </a:pPr>
                <a:r>
                  <a:rPr lang="pt-BR" cap="none" dirty="0" err="1"/>
                  <a:t>By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the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First</a:t>
                </a:r>
                <a:r>
                  <a:rPr lang="pt-BR" cap="none" dirty="0"/>
                  <a:t> Law,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i="1" cap="none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t-BR" i="1" cap="none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pt-BR" i="1" cap="none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 cap="none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t-BR" i="1" cap="none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pt-BR" i="1" cap="non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 cap="none">
                          <a:latin typeface="Cambria Math" panose="02040503050406030204" pitchFamily="18" charset="0"/>
                        </a:rPr>
                        <m:t>𝑑𝐸</m:t>
                      </m:r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𝑑𝑈</m:t>
                      </m:r>
                      <m:r>
                        <a:rPr lang="pt-BR" i="1" cap="non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i="1" cap="none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pt-BR" i="1" cap="non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pt-BR" i="1" cap="non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pt-BR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𝑜𝑡ℎ𝑒𝑟</m:t>
                          </m:r>
                        </m:sub>
                      </m:sSub>
                    </m:oMath>
                  </m:oMathPara>
                </a14:m>
                <a:endParaRPr lang="pt-BR" cap="none" dirty="0"/>
              </a:p>
              <a:p>
                <a:pPr marL="0" indent="0">
                  <a:buNone/>
                </a:pPr>
                <a:r>
                  <a:rPr lang="pt-BR" cap="none" dirty="0" err="1"/>
                  <a:t>where</a:t>
                </a:r>
                <a:r>
                  <a:rPr lang="pt-BR" cap="none" dirty="0"/>
                  <a:t>, </a:t>
                </a:r>
                <a14:m>
                  <m:oMath xmlns:m="http://schemas.openxmlformats.org/officeDocument/2006/math"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pt-BR" cap="none" dirty="0"/>
                  <a:t> </a:t>
                </a:r>
                <a:r>
                  <a:rPr lang="pt-BR" cap="none" dirty="0" err="1"/>
                  <a:t>can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be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written</a:t>
                </a:r>
                <a:r>
                  <a:rPr lang="pt-BR" cap="none" dirty="0"/>
                  <a:t> as </a:t>
                </a:r>
                <a14:m>
                  <m:oMath xmlns:m="http://schemas.openxmlformats.org/officeDocument/2006/math">
                    <m:r>
                      <a:rPr lang="pt-BR" i="1" cap="none">
                        <a:latin typeface="Cambria Math" panose="02040503050406030204" pitchFamily="18" charset="0"/>
                      </a:rPr>
                      <m:t>𝑈</m:t>
                    </m:r>
                    <m:r>
                      <a:rPr lang="pt-BR" i="1" cap="none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 cap="none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 cap="non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pt-BR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 cap="none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pt-BR" i="1" cap="non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pt-BR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 cap="none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pt-BR" i="1" cap="none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cap="none" dirty="0"/>
                  <a:t> </a:t>
                </a:r>
                <a:r>
                  <a:rPr lang="pt-BR" cap="none" dirty="0" err="1"/>
                  <a:t>to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give</a:t>
                </a:r>
                <a:r>
                  <a:rPr lang="pt-BR" cap="none" dirty="0"/>
                  <a:t>  </a:t>
                </a:r>
                <a14:m>
                  <m:oMath xmlns:m="http://schemas.openxmlformats.org/officeDocument/2006/math">
                    <m:r>
                      <a:rPr lang="pt-BR" i="1" cap="none">
                        <a:latin typeface="Cambria Math" panose="02040503050406030204" pitchFamily="18" charset="0"/>
                      </a:rPr>
                      <m:t>𝑑𝑈</m:t>
                    </m:r>
                    <m:r>
                      <a:rPr lang="pt-BR" b="0" i="0" cap="none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cap="none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𝑑𝑇</m:t>
                    </m:r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t-BR" i="1" cap="none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pt-BR" i="1" cap="none">
                        <a:latin typeface="Cambria Math" panose="02040503050406030204" pitchFamily="18" charset="0"/>
                      </a:rPr>
                      <m:t>𝑑</m:t>
                    </m:r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t-BR" i="1" cap="none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pt-BR" i="1" cap="none">
                        <a:latin typeface="Cambria Math" panose="02040503050406030204" pitchFamily="18" charset="0"/>
                      </a:rPr>
                      <m:t>𝑑</m:t>
                    </m:r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pt-BR" b="0" i="1" cap="none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b="0" i="1" cap="none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pt-BR" b="0" i="1" cap="none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b="0" i="1" cap="none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b="0" i="1" cap="none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pt-BR" b="0" i="1" cap="none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pt-BR" b="0" i="1" cap="none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cap="none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pt-BR" b="0" i="1" cap="none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pt-BR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cap="none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b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</m:t>
                      </m:r>
                      <m: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den>
                          </m:f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pt-BR" i="1" cap="none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pt-BR" b="0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cap="none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sub>
                                  </m:sSub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i="1" cap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𝑜𝑡ℎ𝑒𝑟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d>
                            <m:d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l-GR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𝑜𝑡ℎ𝑒𝑟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pt-BR" i="1" cap="none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pt-BR" cap="none" dirty="0"/>
              </a:p>
              <a:p>
                <a:endParaRPr lang="pt-BR" cap="none" dirty="0"/>
              </a:p>
              <a:p>
                <a:endParaRPr lang="pt-BR" cap="none" dirty="0"/>
              </a:p>
              <a:p>
                <a:endParaRPr lang="pt-BR" cap="none" dirty="0"/>
              </a:p>
              <a:p>
                <a:endParaRPr lang="pt-BR" cap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43E549F-10E1-06C3-5BB9-0FBDB77011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74" y="2367092"/>
                <a:ext cx="10363826" cy="3916477"/>
              </a:xfrm>
              <a:blipFill>
                <a:blip r:embed="rId2"/>
                <a:stretch>
                  <a:fillRect l="-765" t="-311" r="-70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1DE1FCCC-5660-38A2-8A6B-641AF39F1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1497140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345D9-7B89-CEF9-A950-D7D061E06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5A8F6-444E-4F56-C81E-F5F4DF209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 Novel Phase Nucleation Formulation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69714C6-E555-94FF-A62F-9F6800C3505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74" y="2367092"/>
                <a:ext cx="10363826" cy="3916477"/>
              </a:xfrm>
            </p:spPr>
            <p:txBody>
              <a:bodyPr>
                <a:normAutofit/>
              </a:bodyPr>
              <a:lstStyle/>
              <a:p>
                <a:r>
                  <a:rPr lang="pt-BR" cap="none" dirty="0"/>
                  <a:t>The </a:t>
                </a:r>
                <a:r>
                  <a:rPr lang="pt-BR" cap="none" dirty="0" err="1"/>
                  <a:t>crítical</a:t>
                </a:r>
                <a:r>
                  <a:rPr lang="pt-BR" cap="none" dirty="0"/>
                  <a:t> total </a:t>
                </a:r>
                <a:r>
                  <a:rPr lang="pt-BR" cap="none" dirty="0" err="1"/>
                  <a:t>free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energy</a:t>
                </a:r>
                <a:r>
                  <a:rPr lang="pt-BR" cap="non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cap="none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pt-BR" b="0" i="1" cap="none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cap="none" dirty="0"/>
                  <a:t>in Ferreira [2024] </a:t>
                </a:r>
                <a:r>
                  <a:rPr lang="pt-BR" cap="none" dirty="0">
                    <a:solidFill>
                      <a:srgbClr val="FFFF00"/>
                    </a:solidFill>
                  </a:rPr>
                  <a:t>DOI: 10.1016/j.physb.2024.416494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can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be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deduced</a:t>
                </a:r>
                <a:r>
                  <a:rPr lang="pt-BR" cap="none" dirty="0"/>
                  <a:t> in </a:t>
                </a:r>
                <a:r>
                  <a:rPr lang="pt-BR" cap="none" dirty="0" err="1"/>
                  <a:t>terms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of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the</a:t>
                </a:r>
                <a:r>
                  <a:rPr lang="pt-BR" cap="none" dirty="0"/>
                  <a:t> bulk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cap="none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pt-BR" i="1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pt-BR" cap="none" dirty="0"/>
                  <a:t> </a:t>
                </a:r>
                <a:r>
                  <a:rPr lang="pt-BR" cap="none" dirty="0" err="1"/>
                  <a:t>and</a:t>
                </a:r>
                <a:r>
                  <a:rPr lang="pt-BR" cap="none" dirty="0"/>
                  <a:t> surface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cap="none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pt-BR" b="0" i="0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0" cap="none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0" cap="none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pt-BR" cap="none" dirty="0"/>
                  <a:t> </a:t>
                </a:r>
                <a:r>
                  <a:rPr lang="pt-BR" cap="none" dirty="0" err="1"/>
                  <a:t>free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energies</a:t>
                </a:r>
                <a:r>
                  <a:rPr lang="pt-BR" cap="none" dirty="0"/>
                  <a:t> as,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pt-BR" b="0" i="0" cap="none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pt-BR" cap="none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pt-BR" cap="none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𝜋</m:t>
                          </m:r>
                          <m:sSubSup>
                            <m:sSubSup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𝑆𝐿</m:t>
                              </m:r>
                            </m:sub>
                          </m:sSub>
                        </m:e>
                      </m:d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cap="none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cap="none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pt-BR" cap="none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pt-BR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cap="none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𝜋</m:t>
                          </m:r>
                          <m:sSubSup>
                            <m:sSubSup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pt-BR" b="0" i="0" cap="none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b="0" i="0" cap="none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b="0" i="1" cap="none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  <m:r>
                        <a:rPr lang="pt-BR" i="1" cap="none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pt-BR" cap="none" dirty="0"/>
              </a:p>
              <a:p>
                <a:pPr marL="0" indent="0">
                  <a:buNone/>
                </a:pPr>
                <a:r>
                  <a:rPr lang="pt-BR" cap="none" dirty="0" err="1"/>
                  <a:t>where</a:t>
                </a:r>
                <a:r>
                  <a:rPr lang="pt-BR" cap="none" dirty="0"/>
                  <a:t>, </a:t>
                </a:r>
                <a14:m>
                  <m:oMath xmlns:m="http://schemas.openxmlformats.org/officeDocument/2006/math"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cap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=2−3</m:t>
                    </m:r>
                    <m:func>
                      <m:funcPr>
                        <m:ctrlPr>
                          <a:rPr lang="pt-BR" b="0" i="0" cap="none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b="0" i="0" cap="none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pt-BR" b="0" i="0" cap="none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b="0" i="0" cap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b="0" i="0" cap="none" smtClean="0"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pt-BR" b="0" i="0" cap="none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b="0" i="1" cap="none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cap="none" dirty="0"/>
                  <a:t>. </a:t>
                </a:r>
                <a:r>
                  <a:rPr lang="en-US" cap="none" dirty="0"/>
                  <a:t>When deriving with respect to the critical radius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b="1" cap="none" dirty="0"/>
                  <a:t> </a:t>
                </a:r>
                <a:r>
                  <a:rPr lang="en-US" cap="none" dirty="0"/>
                  <a:t>to determine the maximum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cap="none" dirty="0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cap="none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pt-BR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cap="none" dirty="0"/>
                  <a:t>, the following parabolic equation is obtained,</a:t>
                </a:r>
              </a:p>
              <a:p>
                <a:pPr marL="0" indent="0">
                  <a:buNone/>
                </a:pPr>
                <a:endParaRPr lang="pt-BR" cap="non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pt-BR" sz="1600" b="0" i="0" cap="none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sz="1600" b="0" i="1" cap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0" i="1" cap="none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600" b="0" i="1" cap="none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pt-BR" sz="1600" b="0" i="0" cap="none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sz="1600" b="0" i="0" cap="none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pt-BR" sz="1600" b="0" i="0" cap="none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1600" b="0" i="0" cap="none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pt-BR" sz="1600" b="0" i="0" cap="none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f>
                            <m:fPr>
                              <m:ctrlP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sSubSup>
                        <m:sSubSupPr>
                          <m:ctrlP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1600" b="0" i="1" cap="none" smtClean="0">
                          <a:latin typeface="Cambria Math" panose="02040503050406030204" pitchFamily="18" charset="0"/>
                        </a:rPr>
                        <m:t>+3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pt-BR" sz="1600" b="0" i="0" cap="none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pt-BR" sz="1600" b="0" i="0" cap="none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pt-BR" sz="1600" b="0" i="0" cap="none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1600" b="0" i="1" cap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0" i="1" cap="none" smtClean="0">
                                          <a:latin typeface="Cambria Math" panose="02040503050406030204" pitchFamily="18" charset="0"/>
                                        </a:rPr>
                                        <m:t>𝜕𝛾</m:t>
                                      </m:r>
                                    </m:e>
                                    <m:sub>
                                      <m:r>
                                        <a:rPr lang="pt-BR" sz="1600" b="0" i="1" cap="none" smtClean="0">
                                          <a:latin typeface="Cambria Math" panose="02040503050406030204" pitchFamily="18" charset="0"/>
                                        </a:rPr>
                                        <m:t>𝑆𝐿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𝑆𝐿</m:t>
                              </m:r>
                            </m:sub>
                          </m:sSub>
                          <m:f>
                            <m:fPr>
                              <m:ctrlP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BR" sz="1600" b="0" i="1" cap="none" smtClean="0">
                          <a:latin typeface="Cambria Math" panose="02040503050406030204" pitchFamily="18" charset="0"/>
                        </a:rPr>
                        <m:t>+6</m:t>
                      </m:r>
                      <m:sSub>
                        <m:sSubPr>
                          <m:ctrlP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r>
                        <a:rPr lang="pt-BR" sz="1600" b="0" i="1" cap="none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1600" b="0" i="1" cap="none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pt-BR" sz="1600" b="0" i="1" cap="none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600" cap="none" dirty="0"/>
              </a:p>
              <a:p>
                <a:endParaRPr lang="pt-BR" cap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69714C6-E555-94FF-A62F-9F6800C350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74" y="2367092"/>
                <a:ext cx="10363826" cy="3916477"/>
              </a:xfrm>
              <a:blipFill>
                <a:blip r:embed="rId2"/>
                <a:stretch>
                  <a:fillRect l="-765" t="-3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B17A6E19-DB2E-4F30-3106-3A541F33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4209580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1219-1D32-409F-B5F5-00FEBEB6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4ACE27-8609-6543-61D2-DB00915E5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 Novel Phase Nucleation Formulation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786D48F-84F9-AE3D-F6E5-51A06A5DCAFD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74" y="1950720"/>
                <a:ext cx="10363826" cy="4332849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cap="none" dirty="0"/>
                  <a:t>A </a:t>
                </a:r>
                <a:r>
                  <a:rPr lang="en-US" cap="none" dirty="0">
                    <a:solidFill>
                      <a:srgbClr val="FFFF00"/>
                    </a:solidFill>
                  </a:rPr>
                  <a:t>2</a:t>
                </a:r>
                <a:r>
                  <a:rPr lang="en-US" cap="none" baseline="30000" dirty="0">
                    <a:solidFill>
                      <a:srgbClr val="FFFF00"/>
                    </a:solidFill>
                  </a:rPr>
                  <a:t>nd</a:t>
                </a:r>
                <a:r>
                  <a:rPr lang="en-US" cap="none" dirty="0">
                    <a:solidFill>
                      <a:srgbClr val="FFFF00"/>
                    </a:solidFill>
                  </a:rPr>
                  <a:t>-order critical radius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b="0" i="1" cap="none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0" i="1" cap="none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b="0" i="1" cap="none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pt-BR" b="0" i="1" cap="none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b="0" i="1" cap="none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𝑛𝑑</m:t>
                        </m:r>
                      </m:sup>
                    </m:sSubSup>
                  </m:oMath>
                </a14:m>
                <a:r>
                  <a:rPr lang="en-US" cap="none" dirty="0"/>
                  <a:t> can be derived from nucleation formulation in terms of bulk </a:t>
                </a:r>
                <a14:m>
                  <m:oMath xmlns:m="http://schemas.openxmlformats.org/officeDocument/2006/math">
                    <m:r>
                      <a:rPr lang="pt-BR" sz="1700" cap="none"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pt-BR" sz="1700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700" cap="none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pt-BR" sz="1700" cap="none"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</m:oMath>
                </a14:m>
                <a:r>
                  <a:rPr lang="en-US" cap="none" dirty="0"/>
                  <a:t>, surface </a:t>
                </a:r>
                <a14:m>
                  <m:oMath xmlns:m="http://schemas.openxmlformats.org/officeDocument/2006/math">
                    <m:r>
                      <a:rPr lang="pt-BR" sz="1700" cap="none"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pt-BR" sz="1700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700" cap="none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sz="1700" b="0" i="0" cap="none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cap="none" dirty="0"/>
                  <a:t>, and configurational </a:t>
                </a:r>
                <a14:m>
                  <m:oMath xmlns:m="http://schemas.openxmlformats.org/officeDocument/2006/math">
                    <m:r>
                      <a:rPr lang="pt-BR" cap="none"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pt-BR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cap="none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0" cap="none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US" cap="none" dirty="0"/>
                  <a:t> free energies as given,</a:t>
                </a:r>
                <a:endParaRPr lang="pt-BR" cap="non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pt-BR" sz="1600" i="1" cap="none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i="1" cap="none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1600" i="1" cap="none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pt-BR" sz="1600" i="1" cap="non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1600" i="1" cap="none">
                              <a:latin typeface="Cambria Math" panose="02040503050406030204" pitchFamily="18" charset="0"/>
                            </a:rPr>
                            <m:t>𝑛𝑑</m:t>
                          </m:r>
                        </m:sup>
                      </m:sSubSup>
                      <m:r>
                        <a:rPr lang="pt-BR" sz="1600" b="0" i="1" cap="none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pt-BR" sz="1600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pt-BR" sz="1600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t-BR" sz="1600" cap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16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pt-BR" sz="16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pt-BR" sz="16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600" i="1" cap="none">
                                              <a:latin typeface="Cambria Math" panose="02040503050406030204" pitchFamily="18" charset="0"/>
                                            </a:rPr>
                                            <m:t>𝜕𝛾</m:t>
                                          </m:r>
                                        </m:e>
                                        <m:sub>
                                          <m:r>
                                            <a:rPr lang="pt-BR" sz="1600" i="1" cap="none">
                                              <a:latin typeface="Cambria Math" panose="02040503050406030204" pitchFamily="18" charset="0"/>
                                            </a:rPr>
                                            <m:t>𝑆𝐿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600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𝑆𝐿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den>
                              </m:f>
                              <m:f>
                                <m:fPr>
                                  <m:ctrlP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pt-BR" sz="1600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pt-BR" sz="1600" cap="none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pt-BR" sz="16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600" i="1" cap="none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sz="1600" i="1" cap="none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pt-BR" sz="16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pt-BR" sz="16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  <m:f>
                                    <m:fPr>
                                      <m:ctrlP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pt-BR" sz="1600" cap="none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num>
                                    <m:den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600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pt-BR" sz="16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pt-BR" sz="16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den>
                              </m:f>
                              <m:f>
                                <m:fPr>
                                  <m:ctrlP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t-BR" sz="1600" i="1" cap="none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1600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600" i="1" cap="none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sz="1600" i="1" cap="non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pt-BR" sz="1600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pt-BR" sz="1600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t-BR" sz="1600" cap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16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pt-BR" sz="16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pt-BR" sz="16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600" i="1" cap="none">
                                              <a:latin typeface="Cambria Math" panose="02040503050406030204" pitchFamily="18" charset="0"/>
                                            </a:rPr>
                                            <m:t>𝜕𝛾</m:t>
                                          </m:r>
                                        </m:e>
                                        <m:sub>
                                          <m:r>
                                            <a:rPr lang="pt-BR" sz="1600" i="1" cap="none">
                                              <a:latin typeface="Cambria Math" panose="02040503050406030204" pitchFamily="18" charset="0"/>
                                            </a:rPr>
                                            <m:t>𝑆𝐿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600" i="1" cap="none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pt-BR" sz="1600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𝑆𝐿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600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6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d>
                                    <m:dPr>
                                      <m:ctrlPr>
                                        <a:rPr lang="pt-BR" sz="1600" b="0" i="0" cap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sz="1600" b="0" i="0" cap="none" smtClean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pt-BR" sz="1600" b="0" i="1" cap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600" b="0" i="1" cap="none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sz="1600" b="0" i="1" cap="none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pt-BR" sz="1600" b="0" i="0" cap="none" smtClean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pt-BR" sz="1600" b="0" i="1" cap="none" smtClean="0">
                                          <a:latin typeface="Cambria Math" panose="02040503050406030204" pitchFamily="18" charset="0"/>
                                        </a:rPr>
                                        <m:t>𝑇𝑓</m:t>
                                      </m:r>
                                      <m:d>
                                        <m:dPr>
                                          <m:ctrlPr>
                                            <a:rPr lang="pt-BR" sz="1600" b="0" i="0" cap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sz="1600" b="0" i="0" cap="none" smtClean="0">
                                              <a:latin typeface="Cambria Math" panose="02040503050406030204" pitchFamily="18" charset="0"/>
                                            </a:rPr>
                                            <m:t>Θ</m:t>
                                          </m:r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600" b="0" i="1" cap="none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t-BR" sz="1600" b="0" i="1" cap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600" b="1" i="1" cap="none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1600" b="1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600" b="1" i="1" cap="none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pt-BR" sz="1600" b="1" i="1" cap="none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f>
                        <m:fPr>
                          <m:ctrlPr>
                            <a:rPr lang="pt-BR" sz="1600" b="1" i="1" cap="none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pt-BR" sz="1600" b="1" i="1" cap="none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b="1" i="1" cap="none" smtClean="0"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pt-BR" sz="1600" b="1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1" i="1" cap="none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e>
                                <m:sub>
                                  <m:r>
                                    <a:rPr lang="pt-BR" sz="1600" b="1" i="1" cap="none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sub>
                              </m:sSub>
                              <m:r>
                                <a:rPr lang="pt-BR" sz="1600" b="1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600" b="1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1600" b="1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1" i="1" cap="none">
                                          <a:latin typeface="Cambria Math" panose="02040503050406030204" pitchFamily="18" charset="0"/>
                                        </a:rPr>
                                        <m:t>𝝏𝜟</m:t>
                                      </m:r>
                                      <m:r>
                                        <a:rPr lang="pt-BR" sz="1600" b="1" i="1" cap="none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b>
                                      <m:r>
                                        <a:rPr lang="pt-BR" sz="1600" b="1" i="1" cap="none">
                                          <a:latin typeface="Cambria Math" panose="02040503050406030204" pitchFamily="18" charset="0"/>
                                        </a:rPr>
                                        <m:t>𝑺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pt-BR" sz="1600" b="1" i="1" cap="none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pt-BR" sz="1600" b="1" i="1" cap="none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den>
                              </m:f>
                              <m:r>
                                <a:rPr lang="pt-BR" sz="1600" b="1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1600" b="1" i="0" cap="none" smtClean="0"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pt-BR" sz="1600" b="1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1" i="1" cap="none" smtClean="0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e>
                                <m:sub>
                                  <m:r>
                                    <a:rPr lang="pt-BR" sz="1600" b="1" i="1" cap="none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pt-BR" sz="1600" b="1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b="1" i="1" cap="none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pt-BR" sz="1600" b="1" i="1" cap="none"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pt-BR" sz="1600" b="1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1" i="1" cap="none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e>
                                <m:sub>
                                  <m:r>
                                    <a:rPr lang="pt-BR" sz="1600" b="1" i="1" cap="none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sz="1600" b="1" i="1" cap="none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pt-BR" sz="1600" b="1" i="1" cap="none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pt-BR" sz="1600" b="1" cap="none" dirty="0"/>
              </a:p>
              <a:p>
                <a:pPr marL="0" indent="0">
                  <a:buNone/>
                </a:pPr>
                <a:r>
                  <a:rPr lang="pt-BR" cap="none" dirty="0" err="1"/>
                  <a:t>and</a:t>
                </a:r>
                <a:r>
                  <a:rPr lang="pt-BR" cap="none" dirty="0"/>
                  <a:t>, </a:t>
                </a:r>
                <a:r>
                  <a:rPr lang="pt-BR" cap="none" dirty="0" err="1"/>
                  <a:t>the</a:t>
                </a:r>
                <a:r>
                  <a:rPr lang="en-US" cap="none" dirty="0"/>
                  <a:t> </a:t>
                </a:r>
                <a:r>
                  <a:rPr lang="en-US" cap="none" dirty="0">
                    <a:solidFill>
                      <a:srgbClr val="FFFF00"/>
                    </a:solidFill>
                  </a:rPr>
                  <a:t>1</a:t>
                </a:r>
                <a:r>
                  <a:rPr lang="en-US" cap="none" baseline="30000" dirty="0">
                    <a:solidFill>
                      <a:srgbClr val="FFFF00"/>
                    </a:solidFill>
                  </a:rPr>
                  <a:t>st</a:t>
                </a:r>
                <a:r>
                  <a:rPr lang="en-US" cap="none" dirty="0">
                    <a:solidFill>
                      <a:srgbClr val="FFFF00"/>
                    </a:solidFill>
                  </a:rPr>
                  <a:t>-order approximation of critical radius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 cap="none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 cap="none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i="1" cap="none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pt-BR" b="0" i="1" cap="none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b="0" i="1" cap="none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bSup>
                  </m:oMath>
                </a14:m>
                <a:r>
                  <a:rPr lang="pt-BR" cap="none" dirty="0"/>
                  <a:t> </a:t>
                </a:r>
                <a:r>
                  <a:rPr lang="pt-BR" cap="none" dirty="0" err="1"/>
                  <a:t>can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be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expressed</a:t>
                </a:r>
                <a:r>
                  <a:rPr lang="pt-BR" cap="none" dirty="0"/>
                  <a:t> as </a:t>
                </a:r>
                <a:r>
                  <a:rPr lang="pt-BR" cap="none" dirty="0" err="1"/>
                  <a:t>the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following</a:t>
                </a:r>
                <a:endParaRPr lang="pt-BR" cap="non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pt-BR" sz="1700" b="0" i="1" cap="none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700" b="0" i="1" cap="none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1700" b="0" i="1" cap="none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pt-BR" sz="1700" b="0" i="1" cap="none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1700" b="0" i="1" cap="none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bSup>
                      <m:r>
                        <a:rPr lang="pt-BR" sz="1700" b="0" i="1" cap="none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1700" b="0" i="1" cap="none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700" b="0" i="1" cap="none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t-BR" sz="17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700" b="0" i="1" cap="none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pt-BR" sz="1700" b="0" i="1" cap="none" smtClean="0">
                                  <a:latin typeface="Cambria Math" panose="02040503050406030204" pitchFamily="18" charset="0"/>
                                </a:rPr>
                                <m:t>𝑆𝐿</m:t>
                              </m:r>
                            </m:sub>
                          </m:sSub>
                          <m:r>
                            <a:rPr lang="pt-BR" sz="1700" b="0" i="1" cap="none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17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700" b="0" i="1" cap="none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pt-BR" sz="1700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t-BR" sz="1700" cap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17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sz="17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700" i="1" cap="none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700" i="1" cap="none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pt-BR" sz="17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1700" i="1" cap="none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pt-BR" sz="1700" i="1" cap="non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BR" sz="17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pt-BR" sz="17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700" i="1" cap="none">
                                              <a:latin typeface="Cambria Math" panose="02040503050406030204" pitchFamily="18" charset="0"/>
                                            </a:rPr>
                                            <m:t>𝜕𝛾</m:t>
                                          </m:r>
                                        </m:e>
                                        <m:sub>
                                          <m:r>
                                            <a:rPr lang="pt-BR" sz="1700" i="1" cap="none">
                                              <a:latin typeface="Cambria Math" panose="02040503050406030204" pitchFamily="18" charset="0"/>
                                            </a:rPr>
                                            <m:t>𝑆𝐿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pt-BR" sz="1700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1700" i="1" cap="none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700" i="1" cap="none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BR" sz="17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700" i="1" cap="none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pt-BR" sz="1700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7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700" i="1" cap="none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pt-BR" sz="1700" i="1" cap="none">
                                      <a:latin typeface="Cambria Math" panose="02040503050406030204" pitchFamily="18" charset="0"/>
                                    </a:rPr>
                                    <m:t>𝑆𝐿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pt-BR" sz="17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7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700" i="1" cap="non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sz="17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700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BR" sz="17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7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t-BR" sz="1700" b="0" i="1" cap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700" b="1" i="1" cap="none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1700" b="1" i="1" cap="none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700" b="1" i="1" cap="none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pt-BR" sz="1700" b="1" i="0" cap="none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pt-BR" sz="1700" b="1" i="1" cap="none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700" b="1" i="1" cap="none" smtClean="0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a:rPr lang="pt-BR" sz="1700" b="1" i="1" cap="none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num>
                        <m:den>
                          <m:r>
                            <a:rPr lang="pt-BR" sz="1700" b="1" i="1" cap="none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pt-BR" sz="1700" b="1" i="1" cap="non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700" b="1" i="1" cap="none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a:rPr lang="pt-BR" sz="1700" b="1" i="1" cap="none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sub>
                          </m:sSub>
                          <m:r>
                            <a:rPr lang="pt-BR" sz="1700" b="1" i="1" cap="none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1700" b="1" i="1" cap="none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1700" b="1" i="1" cap="none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700" b="1" i="1" cap="none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𝝏𝜟</m:t>
                                  </m:r>
                                  <m:r>
                                    <a:rPr lang="pt-BR" sz="1700" b="1" i="1" cap="none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e>
                                <m:sub>
                                  <m:r>
                                    <a:rPr lang="pt-BR" sz="1700" b="1" i="1" cap="none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sz="1700" b="1" i="1" cap="none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pt-BR" sz="1700" b="1" i="1" cap="none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  <m:r>
                            <a:rPr lang="pt-BR" sz="1700" b="1" i="1" cap="none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1700" b="1" i="1" cap="none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pt-BR" sz="1700" b="1" i="1" cap="none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700" b="1" i="1" cap="none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a:rPr lang="pt-BR" sz="1700" b="1" i="1" cap="none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1700" b="1" cap="none" dirty="0"/>
              </a:p>
              <a:p>
                <a:pPr marL="0" indent="0">
                  <a:buNone/>
                </a:pPr>
                <a:r>
                  <a:rPr lang="pt-BR" cap="none" dirty="0" err="1"/>
                  <a:t>By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comparing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with</a:t>
                </a:r>
                <a:r>
                  <a:rPr lang="pt-BR" cap="none" dirty="0"/>
                  <a:t> CNT,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 cap="none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i="1" cap="none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pt-BR" b="0" i="1" cap="none" smtClean="0">
                            <a:latin typeface="Cambria Math" panose="02040503050406030204" pitchFamily="18" charset="0"/>
                          </a:rPr>
                          <m:t>𝐶𝑁𝑇</m:t>
                        </m:r>
                      </m:sup>
                    </m:sSubSup>
                    <m:r>
                      <a:rPr lang="pt-BR" i="1" cap="none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1" i="1" cap="none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pt-BR" b="1" i="1" cap="none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1" i="1" cap="none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pt-BR" b="1" cap="none">
                            <a:latin typeface="Cambria Math" panose="02040503050406030204" pitchFamily="18" charset="0"/>
                          </a:rPr>
                          <m:t>𝚫</m:t>
                        </m:r>
                        <m:sSub>
                          <m:sSubPr>
                            <m:ctrlPr>
                              <a:rPr lang="pt-BR" b="1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cap="none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pt-BR" b="1" i="1" cap="none">
                                <a:latin typeface="Cambria Math" panose="02040503050406030204" pitchFamily="18" charset="0"/>
                              </a:rPr>
                              <m:t>𝑺</m:t>
                            </m:r>
                          </m:sub>
                        </m:sSub>
                      </m:num>
                      <m:den>
                        <m:r>
                          <a:rPr lang="pt-BR" b="1" i="1" cap="none">
                            <a:latin typeface="Cambria Math" panose="02040503050406030204" pitchFamily="18" charset="0"/>
                          </a:rPr>
                          <m:t>𝚫</m:t>
                        </m:r>
                        <m:sSub>
                          <m:sSubPr>
                            <m:ctrlPr>
                              <a:rPr lang="pt-BR" b="1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cap="none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pt-BR" b="1" i="1" cap="none">
                                <a:latin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</m:den>
                    </m:f>
                  </m:oMath>
                </a14:m>
                <a:endParaRPr lang="pt-BR" cap="none" dirty="0"/>
              </a:p>
              <a:p>
                <a:endParaRPr lang="pt-BR" cap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786D48F-84F9-AE3D-F6E5-51A06A5DC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74" y="1950720"/>
                <a:ext cx="10363826" cy="4332849"/>
              </a:xfrm>
              <a:blipFill>
                <a:blip r:embed="rId2"/>
                <a:stretch>
                  <a:fillRect l="-765" t="-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B8648443-C0F2-05B6-55AB-824840B43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3059228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B3B7B-23BB-17F2-6D79-0DEAC21D6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DE747-2368-BD7A-D113-A33014CD5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 Novel Phase Nucleation Formulation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332C25A-0F12-A9EB-EB80-177AD2B19EA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74" y="1850362"/>
                <a:ext cx="10363826" cy="4809175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sz="2600" cap="none" dirty="0"/>
                  <a:t>A </a:t>
                </a:r>
                <a:r>
                  <a:rPr lang="en-US" sz="2600" cap="none" dirty="0">
                    <a:solidFill>
                      <a:srgbClr val="FFFF00"/>
                    </a:solidFill>
                  </a:rPr>
                  <a:t>2</a:t>
                </a:r>
                <a:r>
                  <a:rPr lang="en-US" sz="2600" cap="none" baseline="30000" dirty="0">
                    <a:solidFill>
                      <a:srgbClr val="FFFF00"/>
                    </a:solidFill>
                  </a:rPr>
                  <a:t>nd</a:t>
                </a:r>
                <a:r>
                  <a:rPr lang="en-US" sz="2600" cap="none" dirty="0">
                    <a:solidFill>
                      <a:srgbClr val="FFFF00"/>
                    </a:solidFill>
                  </a:rPr>
                  <a:t>-order thermal field tensor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600" b="1" i="0" cap="none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600" b="1" i="0" cap="none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𝚪</m:t>
                        </m:r>
                      </m:e>
                      <m:sup>
                        <m:r>
                          <a:rPr lang="pt-BR" sz="2600" b="1" i="0" cap="none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𝟐𝐧𝐝</m:t>
                        </m:r>
                      </m:sup>
                    </m:sSup>
                  </m:oMath>
                </a14:m>
                <a:r>
                  <a:rPr lang="en-US" sz="2600" cap="none" dirty="0"/>
                  <a:t> can be derived by maximum of total Gibbs-free energy</a:t>
                </a:r>
                <a:r>
                  <a:rPr lang="pt-BR" sz="2600" cap="none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pt-BR" sz="1800" b="1" i="0" cap="non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800" b="1" i="0" cap="none">
                              <a:latin typeface="Cambria Math" panose="02040503050406030204" pitchFamily="18" charset="0"/>
                            </a:rPr>
                            <m:t>𝚪</m:t>
                          </m:r>
                        </m:e>
                        <m:sup>
                          <m:r>
                            <a:rPr lang="pt-BR" sz="1800" b="1" i="0" cap="none" smtClean="0">
                              <a:latin typeface="Cambria Math" panose="02040503050406030204" pitchFamily="18" charset="0"/>
                            </a:rPr>
                            <m:t>𝟐𝐧𝐝</m:t>
                          </m:r>
                        </m:sup>
                      </m:sSup>
                      <m:r>
                        <a:rPr lang="pt-BR" sz="1800" b="0" i="1" cap="none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1800" b="0" i="1" cap="none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f>
                        <m:fPr>
                          <m:ctrlPr>
                            <a:rPr lang="pt-BR" sz="1800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t-BR" sz="1800" cap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18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pt-BR" sz="18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𝜕𝛾</m:t>
                                          </m:r>
                                        </m:e>
                                        <m:sub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𝑆𝐿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𝑆𝐿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den>
                              </m:f>
                              <m:f>
                                <m:f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pt-BR" sz="1800" cap="none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pt-BR" sz="1800" cap="none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pt-BR" sz="18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pt-BR" sz="18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  <m:f>
                                    <m:f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pt-BR" sz="1800" cap="none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num>
                                    <m:den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800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pt-BR" sz="18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pt-BR" sz="18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den>
                              </m:f>
                              <m:f>
                                <m:f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t-BR" sz="1800" i="1" cap="none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1800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f>
                        <m:fPr>
                          <m:ctrlPr>
                            <a:rPr lang="pt-BR" sz="1800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t-BR" sz="1800" cap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18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pt-BR" sz="18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𝜕𝛾</m:t>
                                          </m:r>
                                        </m:e>
                                        <m:sub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𝑆𝐿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𝑆𝐿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pt-BR" sz="1800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800" cap="non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1800" cap="none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pt-BR" sz="18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d>
                                    <m:dPr>
                                      <m:ctrlPr>
                                        <a:rPr lang="pt-BR" sz="1800" b="0" i="0" cap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sz="1800" b="0" i="0" cap="none" smtClean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pt-BR" sz="1800" b="0" i="1" cap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800" b="0" i="1" cap="none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sz="1800" b="0" i="1" cap="none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pt-BR" sz="1800" b="0" i="0" cap="none" smtClean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pt-BR" sz="1800" b="0" i="1" cap="none" smtClean="0">
                                          <a:latin typeface="Cambria Math" panose="02040503050406030204" pitchFamily="18" charset="0"/>
                                        </a:rPr>
                                        <m:t>𝑇𝑓</m:t>
                                      </m:r>
                                      <m:d>
                                        <m:dPr>
                                          <m:ctrlPr>
                                            <a:rPr lang="pt-BR" sz="1800" b="0" i="0" cap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sz="1800" b="0" i="0" cap="none" smtClean="0">
                                              <a:latin typeface="Cambria Math" panose="02040503050406030204" pitchFamily="18" charset="0"/>
                                            </a:rPr>
                                            <m:t>Θ</m:t>
                                          </m:r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t-BR" sz="1800" b="0" i="1" cap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800" b="1" i="1" cap="none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1800" b="1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1" i="1" cap="none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pt-BR" sz="1800" b="1" i="1" cap="none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f>
                        <m:fPr>
                          <m:ctrlPr>
                            <a:rPr lang="pt-BR" sz="1800" b="1" i="1" cap="none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pt-BR" sz="1800" b="1" i="1" cap="none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800" b="1" i="1" cap="none" smtClean="0"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pt-BR" sz="1800" b="1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1" i="1" cap="none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e>
                                <m:sub>
                                  <m:r>
                                    <a:rPr lang="pt-BR" sz="1800" b="1" i="1" cap="none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sub>
                              </m:sSub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800" b="1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1800" b="1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b="1" i="1" cap="none">
                                          <a:latin typeface="Cambria Math" panose="02040503050406030204" pitchFamily="18" charset="0"/>
                                        </a:rPr>
                                        <m:t>𝝏𝜟</m:t>
                                      </m:r>
                                      <m:r>
                                        <a:rPr lang="pt-BR" sz="1800" b="1" i="1" cap="none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b>
                                      <m:r>
                                        <a:rPr lang="pt-BR" sz="1800" b="1" i="1" cap="none">
                                          <a:latin typeface="Cambria Math" panose="02040503050406030204" pitchFamily="18" charset="0"/>
                                        </a:rPr>
                                        <m:t>𝑺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pt-BR" sz="1800" b="1" i="1" cap="none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pt-BR" sz="1800" b="1" i="1" cap="none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den>
                              </m:f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1800" b="1" i="0" cap="none" smtClean="0"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pt-BR" sz="1800" b="1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1" i="1" cap="none" smtClean="0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e>
                                <m:sub>
                                  <m:r>
                                    <a:rPr lang="pt-BR" sz="1800" b="1" i="1" cap="none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pt-BR" sz="1800" b="1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pt-BR" sz="1800" b="1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1" i="1" cap="none" smtClean="0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pt-BR" sz="1800" b="1" i="1" cap="none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pt-BR" sz="1800" b="1" cap="none" dirty="0"/>
              </a:p>
              <a:p>
                <a:pPr marL="0" indent="0">
                  <a:buNone/>
                </a:pPr>
                <a:r>
                  <a:rPr lang="pt-BR" sz="2600" cap="none" dirty="0" err="1"/>
                  <a:t>And</a:t>
                </a:r>
                <a:r>
                  <a:rPr lang="en-US" sz="2600" cap="none" dirty="0"/>
                  <a:t> </a:t>
                </a:r>
                <a:r>
                  <a:rPr lang="en-US" sz="2600" cap="none" dirty="0">
                    <a:solidFill>
                      <a:srgbClr val="FFFF00"/>
                    </a:solidFill>
                  </a:rPr>
                  <a:t>1st-order approximation</a:t>
                </a:r>
                <a:r>
                  <a:rPr lang="en-US" sz="2600" cap="none" dirty="0"/>
                  <a:t> for the thermal field tensor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600" b="1" i="0" cap="non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600" b="1" i="0" cap="none">
                            <a:latin typeface="Cambria Math" panose="02040503050406030204" pitchFamily="18" charset="0"/>
                          </a:rPr>
                          <m:t>𝚪</m:t>
                        </m:r>
                      </m:e>
                      <m:sup>
                        <m:r>
                          <a:rPr lang="pt-BR" sz="2600" b="1" i="0" cap="none" smtClean="0">
                            <a:latin typeface="Cambria Math" panose="02040503050406030204" pitchFamily="18" charset="0"/>
                          </a:rPr>
                          <m:t>𝟏𝐬𝐭</m:t>
                        </m:r>
                      </m:sup>
                    </m:sSup>
                  </m:oMath>
                </a14:m>
                <a:r>
                  <a:rPr lang="pt-BR" sz="2600" cap="none" dirty="0"/>
                  <a:t> </a:t>
                </a:r>
                <a:r>
                  <a:rPr lang="pt-BR" sz="2600" cap="none" dirty="0" err="1"/>
                  <a:t>can</a:t>
                </a:r>
                <a:r>
                  <a:rPr lang="pt-BR" sz="2600" cap="none" dirty="0"/>
                  <a:t> </a:t>
                </a:r>
                <a:r>
                  <a:rPr lang="pt-BR" sz="2600" cap="none" dirty="0" err="1"/>
                  <a:t>be</a:t>
                </a:r>
                <a:r>
                  <a:rPr lang="pt-BR" sz="2600" cap="none" dirty="0"/>
                  <a:t> </a:t>
                </a:r>
                <a:r>
                  <a:rPr lang="pt-BR" sz="2600" cap="none" dirty="0" err="1"/>
                  <a:t>derived</a:t>
                </a:r>
                <a:r>
                  <a:rPr lang="pt-BR" sz="2600" cap="none" dirty="0"/>
                  <a:t> as </a:t>
                </a:r>
                <a:r>
                  <a:rPr lang="pt-BR" sz="2600" cap="none" dirty="0" err="1"/>
                  <a:t>given</a:t>
                </a:r>
                <a:r>
                  <a:rPr lang="pt-BR" sz="2600" cap="none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pt-BR" sz="1800" b="1" i="0" cap="non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800" b="1" i="0" cap="none">
                              <a:latin typeface="Cambria Math" panose="02040503050406030204" pitchFamily="18" charset="0"/>
                            </a:rPr>
                            <m:t>𝚪</m:t>
                          </m:r>
                        </m:e>
                        <m:sup>
                          <m:r>
                            <a:rPr lang="pt-BR" sz="1800" b="1" i="0" cap="none" smtClean="0">
                              <a:latin typeface="Cambria Math" panose="02040503050406030204" pitchFamily="18" charset="0"/>
                            </a:rPr>
                            <m:t>𝟏𝐬𝐭</m:t>
                          </m:r>
                        </m:sup>
                      </m:sSup>
                      <m:r>
                        <a:rPr lang="pt-BR" sz="1800" b="0" i="1" cap="none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1800" b="0" i="1" cap="none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8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0" i="1" cap="none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pt-BR" sz="1800" b="0" i="1" cap="none" smtClean="0">
                                  <a:latin typeface="Cambria Math" panose="02040503050406030204" pitchFamily="18" charset="0"/>
                                </a:rPr>
                                <m:t>𝑆𝐿</m:t>
                              </m:r>
                            </m:sub>
                          </m:sSub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18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800" b="0" i="1" cap="none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t-BR" sz="1800" cap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18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pt-BR" sz="18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𝜕𝛾</m:t>
                                          </m:r>
                                        </m:e>
                                        <m:sub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𝑆𝐿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𝑆𝐿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pt-BR" sz="1800" cap="none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pt-BR" sz="1800" i="1" cap="none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1800" b="0" i="1" cap="none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1800" b="0" i="0" cap="none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1800" b="0" i="0" cap="none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pt-BR" sz="18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0" i="1" cap="none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pt-BR" sz="1800" b="0" i="1" cap="none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pt-BR" sz="1800" cap="none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pt-BR" sz="1800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1800" cap="none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  <m:r>
                        <a:rPr lang="pt-BR" sz="1800" b="0" i="1" cap="none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1800" cap="none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pt-BR" sz="1800" i="1" cap="none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1800" b="0" i="1" cap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800" i="1" cap="none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1800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1800" cap="none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pt-BR" sz="1800" b="0" i="0" cap="none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800" b="0" i="0" cap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1800" b="0" i="0" cap="none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1800" b="0" i="1" cap="none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pt-BR" sz="1800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pt-BR" sz="1800" cap="none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pt-BR" sz="1800" cap="none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sz="1800" cap="none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pt-BR" sz="1800" b="0" i="1" cap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800" b="1" i="1" cap="none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1800" b="1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1" i="1" cap="none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pt-BR" sz="1800" b="1" i="1" cap="non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num>
                        <m:den>
                          <m:r>
                            <a:rPr lang="pt-BR" sz="1800" b="1" i="1" cap="none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pt-BR" sz="1800" b="1" i="1" cap="none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1" i="1" cap="none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sub>
                          </m:sSub>
                          <m:r>
                            <a:rPr lang="pt-BR" sz="1800" b="1" i="1" cap="none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1800" b="1" i="1" cap="none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1800" b="1" i="1" cap="none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1" i="1" cap="none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pt-BR" sz="1800" b="1" i="1" cap="none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𝚫</m:t>
                                  </m:r>
                                  <m:r>
                                    <a:rPr lang="pt-BR" sz="1800" b="1" i="1" cap="none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pt-BR" sz="1800" b="1" i="1" cap="none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sz="1800" b="1" i="1" cap="none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pt-BR" sz="1800" b="1" i="1" cap="none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  <m:r>
                            <a:rPr lang="pt-BR" sz="1800" b="1" i="1" cap="non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1800" b="1" i="1" cap="none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pt-BR" sz="1800" b="1" i="1" cap="none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1" i="1" cap="none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pt-BR" sz="1800" b="1" i="1" cap="none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1800" b="1" cap="none" dirty="0"/>
              </a:p>
              <a:p>
                <a:r>
                  <a:rPr lang="pt-BR" sz="2600" cap="none" dirty="0"/>
                  <a:t>The </a:t>
                </a:r>
                <a:r>
                  <a:rPr lang="pt-BR" sz="2600" cap="none" dirty="0" err="1">
                    <a:solidFill>
                      <a:srgbClr val="FFFF00"/>
                    </a:solidFill>
                  </a:rPr>
                  <a:t>nucleation</a:t>
                </a:r>
                <a:r>
                  <a:rPr lang="pt-BR" sz="2600" cap="none" dirty="0">
                    <a:solidFill>
                      <a:srgbClr val="FFFF00"/>
                    </a:solidFill>
                  </a:rPr>
                  <a:t> rate</a:t>
                </a:r>
                <a:r>
                  <a:rPr lang="pt-BR" sz="2600" cap="none" dirty="0"/>
                  <a:t> </a:t>
                </a:r>
                <a14:m>
                  <m:oMath xmlns:m="http://schemas.openxmlformats.org/officeDocument/2006/math">
                    <m:r>
                      <a:rPr lang="pt-BR" sz="2800" i="1" cap="none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pt-BR" sz="2600" cap="none" dirty="0"/>
                  <a:t> </a:t>
                </a:r>
                <a:r>
                  <a:rPr lang="pt-BR" sz="2600" cap="none" dirty="0" err="1"/>
                  <a:t>derived</a:t>
                </a:r>
                <a:r>
                  <a:rPr lang="pt-BR" sz="2600" cap="none" dirty="0"/>
                  <a:t> </a:t>
                </a:r>
                <a:r>
                  <a:rPr lang="pt-BR" sz="2600" cap="none" dirty="0" err="1"/>
                  <a:t>by</a:t>
                </a:r>
                <a:r>
                  <a:rPr lang="pt-BR" sz="2600" cap="none" dirty="0"/>
                  <a:t> Ferreira (2024) </a:t>
                </a:r>
                <a:r>
                  <a:rPr lang="pt-BR" sz="2600" cap="none" dirty="0" err="1"/>
                  <a:t>is</a:t>
                </a:r>
                <a:r>
                  <a:rPr lang="pt-BR" sz="2600" cap="none" dirty="0"/>
                  <a:t> </a:t>
                </a:r>
                <a:r>
                  <a:rPr lang="pt-BR" sz="2600" cap="none" dirty="0" err="1"/>
                  <a:t>given</a:t>
                </a:r>
                <a:r>
                  <a:rPr lang="pt-BR" sz="2600" cap="none" dirty="0"/>
                  <a:t> </a:t>
                </a:r>
                <a:r>
                  <a:rPr lang="pt-BR" sz="2600" cap="none" dirty="0" err="1"/>
                  <a:t>by</a:t>
                </a:r>
                <a:endParaRPr lang="pt-BR" sz="2600" cap="non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sz="2300" b="0" i="1" cap="none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t-BR" sz="2300" b="0" i="1" cap="none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300" b="0" i="1" cap="none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300" b="0" i="1" cap="none" smtClean="0">
                              <a:latin typeface="Cambria Math" panose="02040503050406030204" pitchFamily="18" charset="0"/>
                            </a:rPr>
                            <m:t>𝐷𝐴</m:t>
                          </m:r>
                        </m:num>
                        <m:den>
                          <m:sSup>
                            <m:sSupPr>
                              <m:ctrlPr>
                                <a:rPr lang="pt-BR" sz="23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300" b="0" i="1" cap="none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pt-BR" sz="2300" b="0" i="1" cap="none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pt-BR" sz="2300" b="0" i="1" cap="none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300" b="0" i="1" cap="none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pt-BR" sz="2300" b="0" i="1" cap="none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func>
                        <m:funcPr>
                          <m:ctrlPr>
                            <a:rPr lang="pt-BR" sz="2300" b="0" i="0" cap="none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300" b="0" i="0" cap="none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pt-BR" sz="23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2300" b="0" i="0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pt-BR" sz="2300" b="0" i="0" cap="none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sz="2300" b="0" i="1" cap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300" b="0" i="1" cap="none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pt-BR" sz="2300" b="0" i="1" cap="none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pt-BR" sz="2300" b="0" i="0" cap="none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sz="2300" b="0" i="1" cap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300" b="0" i="1" cap="none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pt-BR" sz="2300" b="0" i="1" cap="none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pt-BR" sz="2300" b="0" i="1" cap="none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sz="2300" b="0" i="1" cap="none" smtClean="0">
                                          <a:latin typeface="Cambria Math" panose="02040503050406030204" pitchFamily="18" charset="0"/>
                                        </a:rPr>
                                        <m:t>𝐸𝑞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pt-BR" sz="2300" cap="none" dirty="0"/>
              </a:p>
              <a:p>
                <a:pPr marL="0" indent="0" algn="just">
                  <a:buNone/>
                </a:pPr>
                <a:r>
                  <a:rPr lang="en-US" sz="2600" cap="none" dirty="0"/>
                  <a:t>where, </a:t>
                </a:r>
                <a14:m>
                  <m:oMath xmlns:m="http://schemas.openxmlformats.org/officeDocument/2006/math">
                    <m:r>
                      <a:rPr lang="en-US" sz="2600" i="1" cap="none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600" cap="none" dirty="0"/>
                  <a:t> is the self-diffusion coefficient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cap="none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 cap="none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pt-BR" sz="2600" b="0" i="0" cap="none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600" b="0" i="0" cap="none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pt-BR" sz="2600" b="0" i="0" cap="none" dirty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2600" cap="none" dirty="0"/>
                  <a:t>, </a:t>
                </a:r>
                <a14:m>
                  <m:oMath xmlns:m="http://schemas.openxmlformats.org/officeDocument/2006/math">
                    <m:r>
                      <a:rPr lang="pt-BR" sz="2600" b="0" i="1" cap="none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600" b="0" i="1" cap="none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600" b="0" i="1" cap="none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600" cap="none" dirty="0"/>
                  <a:t> is the density of modes in the new phase in </a:t>
                </a:r>
                <a14:m>
                  <m:oMath xmlns:m="http://schemas.openxmlformats.org/officeDocument/2006/math">
                    <m:r>
                      <a:rPr lang="en-US" sz="2600" i="1" cap="none" dirty="0" smtClean="0">
                        <a:latin typeface="Cambria Math" panose="02040503050406030204" pitchFamily="18" charset="0"/>
                      </a:rPr>
                      <m:t>𝑚𝑜𝑑𝑒𝑠</m:t>
                    </m:r>
                    <m:r>
                      <a:rPr lang="en-US" sz="2600" i="1" cap="none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600" i="1" cap="none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 cap="none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600" i="1" cap="none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pt-BR" sz="2600" cap="none" dirty="0"/>
                  <a:t>, </a:t>
                </a:r>
                <a14:m>
                  <m:oMath xmlns:m="http://schemas.openxmlformats.org/officeDocument/2006/math">
                    <m:r>
                      <a:rPr lang="en-US" sz="2600" i="1" cap="none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600" cap="none" dirty="0"/>
                  <a:t> is the distance an atom must jump from a phase to the nucleating new surface area in m, </a:t>
                </a:r>
                <a14:m>
                  <m:oMath xmlns:m="http://schemas.openxmlformats.org/officeDocument/2006/math">
                    <m:r>
                      <a:rPr lang="en-US" sz="2600" i="1" cap="none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600" cap="none" dirty="0"/>
                  <a:t> is the surface area of the new phase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cap="none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 cap="none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600" i="1" cap="none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600" cap="none" dirty="0"/>
                  <a:t>.</a:t>
                </a:r>
                <a:endParaRPr lang="pt-BR" sz="2600" cap="none" dirty="0"/>
              </a:p>
              <a:p>
                <a:endParaRPr lang="pt-BR" cap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332C25A-0F12-A9EB-EB80-177AD2B19E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74" y="1850362"/>
                <a:ext cx="10363826" cy="4809175"/>
              </a:xfrm>
              <a:blipFill>
                <a:blip r:embed="rId3"/>
                <a:stretch>
                  <a:fillRect l="-647" t="-761" r="-706" b="-6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A70DA268-809D-B880-4690-4AB28CE9C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34192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4FABA-C3C1-BB3C-5F9B-597E4CBF4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DFE92-DC76-32CA-1091-C73177E19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b="1" cap="none" dirty="0"/>
              <a:t>A General </a:t>
            </a:r>
            <a:r>
              <a:rPr lang="pt-BR" sz="4000" b="1" cap="none" dirty="0" err="1"/>
              <a:t>Phase</a:t>
            </a:r>
            <a:r>
              <a:rPr lang="pt-BR" sz="4000" b="1" cap="none" dirty="0"/>
              <a:t> </a:t>
            </a:r>
            <a:r>
              <a:rPr lang="pt-BR" sz="4000" b="1" cap="none" dirty="0" err="1"/>
              <a:t>Transformation</a:t>
            </a:r>
            <a:r>
              <a:rPr lang="pt-BR" sz="4000" b="1" cap="none" dirty="0"/>
              <a:t> </a:t>
            </a:r>
            <a:r>
              <a:rPr lang="pt-BR" sz="4000" b="1" cap="none" dirty="0" err="1"/>
              <a:t>Equation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BCC4ED6-AB31-4CFB-A05C-AD6E07E0BDF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723899" y="1924180"/>
                <a:ext cx="10944225" cy="428135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pt-BR" cap="none" dirty="0"/>
                  <a:t>The </a:t>
                </a:r>
                <a:r>
                  <a:rPr lang="pt-BR" cap="none" dirty="0">
                    <a:solidFill>
                      <a:srgbClr val="FFFF00"/>
                    </a:solidFill>
                  </a:rPr>
                  <a:t>newly </a:t>
                </a:r>
                <a:r>
                  <a:rPr lang="pt-BR" cap="none" dirty="0" err="1">
                    <a:solidFill>
                      <a:srgbClr val="FFFF00"/>
                    </a:solidFill>
                  </a:rPr>
                  <a:t>thermal</a:t>
                </a:r>
                <a:r>
                  <a:rPr lang="pt-BR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cap="none" dirty="0" err="1">
                    <a:solidFill>
                      <a:srgbClr val="FFFF00"/>
                    </a:solidFill>
                  </a:rPr>
                  <a:t>field</a:t>
                </a:r>
                <a:r>
                  <a:rPr lang="pt-BR" cap="none" dirty="0">
                    <a:solidFill>
                      <a:srgbClr val="FFFF00"/>
                    </a:solidFill>
                  </a:rPr>
                  <a:t> Tensor </a:t>
                </a:r>
                <a14:m>
                  <m:oMath xmlns:m="http://schemas.openxmlformats.org/officeDocument/2006/math">
                    <m:r>
                      <a:rPr lang="el-GR" b="1" i="0" cap="none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pt-BR" cap="none" dirty="0"/>
                  <a:t> as </a:t>
                </a:r>
                <a:r>
                  <a:rPr lang="pt-BR" cap="none" dirty="0" err="1"/>
                  <a:t>derived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by</a:t>
                </a:r>
                <a:r>
                  <a:rPr lang="pt-BR" cap="none" dirty="0"/>
                  <a:t> Ferreira [2024] DOI: 10.1016/j.physb.2024.416494 is </a:t>
                </a:r>
                <a:r>
                  <a:rPr lang="pt-BR" cap="none" dirty="0" err="1"/>
                  <a:t>defined</a:t>
                </a:r>
                <a:r>
                  <a:rPr lang="pt-BR" cap="none" dirty="0"/>
                  <a:t> as </a:t>
                </a:r>
                <a:r>
                  <a:rPr lang="pt-BR" cap="none" dirty="0" err="1"/>
                  <a:t>any</a:t>
                </a:r>
                <a:r>
                  <a:rPr lang="pt-BR" cap="none" dirty="0"/>
                  <a:t> new </a:t>
                </a:r>
                <a:r>
                  <a:rPr lang="pt-BR" cap="none" dirty="0" err="1"/>
                  <a:t>created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and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deformed</a:t>
                </a:r>
                <a:r>
                  <a:rPr lang="pt-BR" cap="none" dirty="0"/>
                  <a:t> surface </a:t>
                </a:r>
                <a:r>
                  <a:rPr lang="pt-BR" cap="none" dirty="0" err="1"/>
                  <a:t>area</a:t>
                </a:r>
                <a:r>
                  <a:rPr lang="pt-BR" cap="none" dirty="0"/>
                  <a:t> </a:t>
                </a:r>
                <a14:m>
                  <m:oMath xmlns:m="http://schemas.openxmlformats.org/officeDocument/2006/math">
                    <m:r>
                      <a:rPr lang="pt-BR" b="1" i="0" cap="none" dirty="0" smtClean="0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pt-BR" cap="none" dirty="0"/>
                  <a:t> is normal </a:t>
                </a:r>
                <a:r>
                  <a:rPr lang="pt-BR" cap="none" dirty="0" err="1"/>
                  <a:t>to</a:t>
                </a:r>
                <a:r>
                  <a:rPr lang="pt-BR" cap="none" dirty="0"/>
                  <a:t> </a:t>
                </a:r>
                <a:r>
                  <a:rPr lang="pt-BR" cap="none" dirty="0" err="1"/>
                  <a:t>the</a:t>
                </a:r>
                <a:r>
                  <a:rPr lang="pt-BR" cap="none" dirty="0"/>
                  <a:t> termal </a:t>
                </a:r>
                <a:r>
                  <a:rPr lang="pt-BR" cap="none" dirty="0" err="1"/>
                  <a:t>field</a:t>
                </a:r>
                <a:r>
                  <a:rPr lang="pt-BR" cap="none" dirty="0"/>
                  <a:t> </a:t>
                </a:r>
                <a14:m>
                  <m:oMath xmlns:m="http://schemas.openxmlformats.org/officeDocument/2006/math">
                    <m:r>
                      <a:rPr lang="pt-BR" b="1" i="0" cap="none" smtClean="0">
                        <a:latin typeface="Cambria Math" panose="02040503050406030204" pitchFamily="18" charset="0"/>
                      </a:rPr>
                      <m:t>𝐓</m:t>
                    </m:r>
                  </m:oMath>
                </a14:m>
                <a:r>
                  <a:rPr lang="pt-BR" cap="none" dirty="0"/>
                  <a:t>, i.e.,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l-GR" b="1" i="0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𝚪</m:t>
                      </m:r>
                      <m:r>
                        <a:rPr lang="pt-BR" b="0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1" i="0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</m:t>
                      </m:r>
                      <m:r>
                        <a:rPr lang="pt-BR" b="1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pt-BR" b="1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𝛁</m:t>
                      </m:r>
                      <m:r>
                        <a:rPr lang="pt-BR" b="1" i="0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</m:t>
                      </m:r>
                      <m:r>
                        <a:rPr lang="pt-BR" b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</m:t>
                      </m:r>
                      <m:r>
                        <a:rPr lang="pt-BR" b="1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pt-BR" b="1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𝛁</m:t>
                      </m:r>
                      <m:sSub>
                        <m:sSubPr>
                          <m:ctrlPr>
                            <a:rPr lang="en-US" b="1" cap="non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cap="none"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pt-BR" b="1" cap="none">
                              <a:latin typeface="Cambria Math" panose="02040503050406030204" pitchFamily="18" charset="0"/>
                            </a:rPr>
                            <m:t>𝐩𝐢</m:t>
                          </m:r>
                        </m:sub>
                      </m:sSub>
                      <m:r>
                        <a:rPr lang="pt-BR" b="1" i="1" cap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</m:t>
                      </m:r>
                      <m:r>
                        <a:rPr lang="pt-BR" b="1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e>
                      </m:d>
                      <m:r>
                        <a:rPr lang="pt-BR" b="1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pt-BR" b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</m:t>
                      </m:r>
                      <m:r>
                        <a:rPr lang="pt-BR" b="1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den>
                          </m:f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pt-BR" b="1" cap="none" dirty="0">
                  <a:ea typeface="Cambria Math" panose="02040503050406030204" pitchFamily="18" charset="0"/>
                </a:endParaRPr>
              </a:p>
              <a:p>
                <a:r>
                  <a:rPr lang="pt-BR" cap="none" dirty="0" err="1">
                    <a:solidFill>
                      <a:srgbClr val="FFFF00"/>
                    </a:solidFill>
                  </a:rPr>
                  <a:t>Examples</a:t>
                </a:r>
                <a:r>
                  <a:rPr lang="pt-BR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cap="none" dirty="0" err="1">
                    <a:solidFill>
                      <a:srgbClr val="FFFF00"/>
                    </a:solidFill>
                  </a:rPr>
                  <a:t>of</a:t>
                </a:r>
                <a:r>
                  <a:rPr lang="pt-BR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cap="none" dirty="0" err="1">
                    <a:solidFill>
                      <a:srgbClr val="FFFF00"/>
                    </a:solidFill>
                  </a:rPr>
                  <a:t>application</a:t>
                </a:r>
                <a:r>
                  <a:rPr lang="pt-BR" cap="none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l-GR" b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𝚪</m:t>
                      </m:r>
                      <m: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 cap="none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f>
                        <m:fPr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t-BR" cap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pt-BR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pt-BR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 cap="none">
                                              <a:latin typeface="Cambria Math" panose="02040503050406030204" pitchFamily="18" charset="0"/>
                                            </a:rPr>
                                            <m:t>𝜕𝛾</m:t>
                                          </m:r>
                                        </m:e>
                                        <m:sub>
                                          <m:r>
                                            <a:rPr lang="pt-BR" i="1" cap="none">
                                              <a:latin typeface="Cambria Math" panose="02040503050406030204" pitchFamily="18" charset="0"/>
                                            </a:rPr>
                                            <m:t>𝑆𝐿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𝑆𝐿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den>
                              </m:f>
                              <m:f>
                                <m:fPr>
                                  <m:ctrlP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pt-BR" cap="none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pt-BR" cap="none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pt-BR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 cap="none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i="1" cap="none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pt-BR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pt-BR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  <m:f>
                                    <m:fPr>
                                      <m:ctrlP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pt-BR" cap="none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num>
                                    <m:den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pt-BR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pt-BR" cap="non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den>
                              </m:f>
                              <m:f>
                                <m:fPr>
                                  <m:ctrlP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t-BR" b="0" i="1" cap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cap="none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b="1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1" i="1" cap="none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pt-BR" b="1" i="1" cap="none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f>
                        <m:fPr>
                          <m:ctrlPr>
                            <a:rPr lang="pt-BR" b="1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pt-BR" b="1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 cap="none"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pt-BR" b="1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1" i="1" cap="none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e>
                                <m:sub>
                                  <m:r>
                                    <a:rPr lang="pt-BR" b="1" i="1" cap="none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sub>
                              </m:sSub>
                              <m:r>
                                <a:rPr lang="pt-BR" b="1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b="1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b="1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1" i="1" cap="none">
                                          <a:latin typeface="Cambria Math" panose="02040503050406030204" pitchFamily="18" charset="0"/>
                                        </a:rPr>
                                        <m:t>𝝏𝜟</m:t>
                                      </m:r>
                                      <m:r>
                                        <a:rPr lang="pt-BR" b="1" i="1" cap="none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b>
                                      <m:r>
                                        <a:rPr lang="pt-BR" b="1" i="1" cap="none">
                                          <a:latin typeface="Cambria Math" panose="02040503050406030204" pitchFamily="18" charset="0"/>
                                        </a:rPr>
                                        <m:t>𝑺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pt-BR" b="1" i="1" cap="none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pt-BR" b="1" i="1" cap="none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den>
                              </m:f>
                              <m:r>
                                <a:rPr lang="pt-BR" b="1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b="1" cap="none"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pt-BR" b="1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1" i="1" cap="none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e>
                                <m:sub>
                                  <m:r>
                                    <a:rPr lang="pt-BR" b="1" i="1" cap="none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pt-BR" b="1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1" i="1" cap="none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pt-BR" b="1" i="1" cap="none"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pt-BR" b="1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1" i="1" cap="none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pt-BR" b="1" i="1" cap="none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b="1" i="1" cap="none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pt-BR" b="1" i="1" cap="none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den>
                      </m:f>
                      <m:r>
                        <a:rPr lang="pt-BR" b="1" i="1" cap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</m:t>
                      </m:r>
                      <m:r>
                        <a:rPr lang="pt-BR" b="1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pt-BR" b="1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𝛁</m:t>
                      </m:r>
                      <m:r>
                        <a:rPr lang="pt-BR" b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</m:t>
                      </m:r>
                    </m:oMath>
                  </m:oMathPara>
                </a14:m>
                <a:endParaRPr lang="pt-BR" b="1" cap="none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pt-BR" b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</m:t>
                      </m:r>
                      <m: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den>
                          </m:f>
                          <m:d>
                            <m:dPr>
                              <m:ctrlPr>
                                <a:rPr lang="pt-BR" i="1" cap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i="1" cap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 cap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pt-BR" i="1" cap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𝑡𝑟𝑎𝑛𝑠𝑙</m:t>
                                  </m:r>
                                </m:sub>
                              </m:sSub>
                              <m:r>
                                <a:rPr lang="pt-BR" i="1" cap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i="1" cap="none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 cap="none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pt-BR" i="1" cap="none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𝑣𝑖𝑏</m:t>
                                  </m:r>
                                </m:sub>
                              </m:sSub>
                              <m:r>
                                <a:rPr lang="pt-BR" i="1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i="1" cap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 cap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pt-BR" i="1" cap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𝑟𝑜𝑡</m:t>
                                  </m:r>
                                </m:sub>
                              </m:sSub>
                              <m:r>
                                <a:rPr lang="pt-BR" i="1" cap="none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i="1" cap="none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 cap="none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pt-BR" i="1" cap="none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𝑒𝑙𝑒𝑐𝑡</m:t>
                                  </m:r>
                                </m:sub>
                              </m:sSub>
                              <m:r>
                                <a:rPr lang="pt-BR" i="1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i="1" cap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 cap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pt-BR" i="1" cap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𝑚𝑎𝑔</m:t>
                                  </m:r>
                                </m:sub>
                              </m:sSub>
                              <m:r>
                                <a:rPr lang="pt-BR" i="1" cap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i="1" cap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 cap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pt-BR" i="1" cap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𝑜𝑡ℎ𝑒𝑟</m:t>
                                  </m:r>
                                </m:sub>
                              </m:sSub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d>
                        </m:e>
                      </m:d>
                      <m: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e>
                      </m:d>
                      <m: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pt-BR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𝑜𝑡ℎ𝑒𝑟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l-GR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pt-BR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𝑜𝑡ℎ𝑒𝑟</m:t>
                              </m:r>
                            </m:sub>
                          </m:sSub>
                        </m:e>
                      </m:d>
                      <m: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pt-BR" i="1" cap="none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r>
                            <a:rPr lang="pt-BR" i="1" cap="none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pt-BR" cap="none" dirty="0"/>
              </a:p>
              <a:p>
                <a:endParaRPr lang="pt-BR" cap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BCC4ED6-AB31-4CFB-A05C-AD6E07E0BD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723899" y="1924180"/>
                <a:ext cx="10944225" cy="4281358"/>
              </a:xfrm>
              <a:blipFill>
                <a:blip r:embed="rId2"/>
                <a:stretch>
                  <a:fillRect l="-334" t="-7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101723C7-4E57-5160-757E-4642828A5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1930486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34667-F038-E00A-C2E8-F75A05663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D0A546-D5CE-9928-5C03-27BD3FEC3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of Fundamental Thermodynamics Variables and Functions to this New Field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2B460C3-CA9B-6D45-5980-2D1CFFDD21C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74" y="2062292"/>
                <a:ext cx="10363826" cy="462537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sz="1800" cap="none" dirty="0"/>
                  <a:t>The </a:t>
                </a:r>
                <a:r>
                  <a:rPr lang="pt-BR" sz="1800" cap="none" dirty="0" err="1">
                    <a:solidFill>
                      <a:srgbClr val="FFFF00"/>
                    </a:solidFill>
                  </a:rPr>
                  <a:t>solution</a:t>
                </a:r>
                <a:r>
                  <a:rPr lang="pt-BR" sz="1800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sz="1800" cap="none" dirty="0" err="1">
                    <a:solidFill>
                      <a:srgbClr val="FFFF00"/>
                    </a:solidFill>
                  </a:rPr>
                  <a:t>of</a:t>
                </a:r>
                <a:r>
                  <a:rPr lang="pt-BR" sz="1800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sz="1800" cap="none" dirty="0" err="1">
                    <a:solidFill>
                      <a:srgbClr val="FFFF00"/>
                    </a:solidFill>
                  </a:rPr>
                  <a:t>the</a:t>
                </a:r>
                <a:r>
                  <a:rPr lang="pt-BR" sz="1800" cap="none" dirty="0">
                    <a:solidFill>
                      <a:srgbClr val="FFFF00"/>
                    </a:solidFill>
                  </a:rPr>
                  <a:t> thermal </a:t>
                </a:r>
                <a:r>
                  <a:rPr lang="pt-BR" sz="1800" cap="none" dirty="0" err="1">
                    <a:solidFill>
                      <a:srgbClr val="FFFF00"/>
                    </a:solidFill>
                  </a:rPr>
                  <a:t>field</a:t>
                </a:r>
                <a:r>
                  <a:rPr lang="pt-BR" sz="1800" cap="none" dirty="0">
                    <a:solidFill>
                      <a:srgbClr val="FFFF00"/>
                    </a:solidFill>
                  </a:rPr>
                  <a:t> tensor </a:t>
                </a:r>
                <a14:m>
                  <m:oMath xmlns:m="http://schemas.openxmlformats.org/officeDocument/2006/math">
                    <m:r>
                      <a:rPr lang="pt-BR" sz="1800" b="1" cap="none"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pt-BR" sz="1800" cap="none" dirty="0"/>
                  <a:t> requires: </a:t>
                </a:r>
              </a:p>
              <a:p>
                <a:r>
                  <a:rPr lang="pt-BR" sz="1800" b="1" cap="none" dirty="0">
                    <a:solidFill>
                      <a:srgbClr val="FFFF00"/>
                    </a:solidFill>
                  </a:rPr>
                  <a:t>The </a:t>
                </a:r>
                <a:r>
                  <a:rPr lang="pt-BR" sz="1800" b="1" cap="none" dirty="0" err="1">
                    <a:solidFill>
                      <a:srgbClr val="FFFF00"/>
                    </a:solidFill>
                  </a:rPr>
                  <a:t>solution</a:t>
                </a:r>
                <a:r>
                  <a:rPr lang="pt-BR" sz="1800" b="1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sz="1800" b="1" cap="none" dirty="0" err="1">
                    <a:solidFill>
                      <a:srgbClr val="FFFF00"/>
                    </a:solidFill>
                  </a:rPr>
                  <a:t>of</a:t>
                </a:r>
                <a:r>
                  <a:rPr lang="pt-BR" sz="1800" b="1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sz="1800" b="1" cap="none" dirty="0" err="1">
                    <a:solidFill>
                      <a:srgbClr val="FFFF00"/>
                    </a:solidFill>
                  </a:rPr>
                  <a:t>the</a:t>
                </a:r>
                <a:r>
                  <a:rPr lang="pt-BR" sz="1800" b="1" cap="none" dirty="0">
                    <a:solidFill>
                      <a:srgbClr val="FFFF00"/>
                    </a:solidFill>
                  </a:rPr>
                  <a:t> surface-stress tensor </a:t>
                </a:r>
                <a14:m>
                  <m:oMath xmlns:m="http://schemas.openxmlformats.org/officeDocument/2006/math">
                    <m:r>
                      <a:rPr lang="el-GR" sz="1800" b="1" cap="none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pt-BR" sz="1800" cap="none" dirty="0"/>
                  <a:t> [</a:t>
                </a:r>
                <a:r>
                  <a:rPr lang="pt-BR" sz="1800" cap="none" dirty="0" err="1"/>
                  <a:t>Gurtin</a:t>
                </a:r>
                <a:r>
                  <a:rPr lang="pt-BR" sz="1800" cap="none" dirty="0"/>
                  <a:t> </a:t>
                </a:r>
                <a:r>
                  <a:rPr lang="pt-BR" sz="1800" cap="none" dirty="0" err="1"/>
                  <a:t>and</a:t>
                </a:r>
                <a:r>
                  <a:rPr lang="pt-BR" sz="1800" cap="none" dirty="0"/>
                  <a:t> Murdoch, 1978; Ferreira (2022)]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1600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600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pt-BR" sz="16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pt-BR" sz="1600" b="0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l-GR" sz="1600" b="1" i="0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𝚺</m:t>
                      </m:r>
                      <m:r>
                        <a:rPr lang="pt-BR" sz="1600" b="0" i="0" cap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600" b="1" i="0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𝚯</m:t>
                      </m:r>
                      <m:r>
                        <a:rPr lang="pt-BR" sz="1600" b="1" i="0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𝐧</m:t>
                      </m:r>
                      <m:r>
                        <a:rPr lang="pt-BR" sz="1600" b="0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̈"/>
                          <m:ctrlPr>
                            <a:rPr lang="pt-BR" sz="1600" b="1" i="0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1" i="0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𝐮</m:t>
                          </m:r>
                        </m:e>
                      </m:acc>
                    </m:oMath>
                  </m:oMathPara>
                </a14:m>
                <a:endParaRPr lang="pt-BR" sz="1600" cap="none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sz="1600" b="1" i="1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𝚺</m:t>
                    </m:r>
                    <m:r>
                      <a:rPr lang="pt-BR" sz="1600" b="1" i="1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sz="1600" b="1" i="0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𝛔</m:t>
                    </m:r>
                    <m:r>
                      <a:rPr lang="pt-BR" sz="1600" b="1" i="0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𝐈</m:t>
                    </m:r>
                    <m:r>
                      <a:rPr lang="pt-BR" sz="1600" b="0" i="0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d>
                      <m:dPr>
                        <m:ctrlPr>
                          <a:rPr lang="pt-BR" sz="16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600" b="0" i="1" cap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cap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pt-BR" sz="1600" b="0" i="1" cap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16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pt-BR" sz="16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pt-BR" sz="1600" b="1" cap="non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𝐈</m:t>
                    </m:r>
                    <m:r>
                      <a:rPr lang="pt-BR" sz="1600" b="1" i="0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𝐄</m:t>
                    </m:r>
                    <m:r>
                      <a:rPr lang="pt-BR" sz="1600" b="1" i="0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sz="16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600" b="0" i="1" cap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cap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pt-BR" sz="1600" b="0" i="1" cap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16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pt-BR" sz="16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  <m:d>
                      <m:dPr>
                        <m:ctrlPr>
                          <a:rPr lang="pt-BR" sz="1600" b="0" i="0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t-BR" sz="1600" b="0" i="0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tr</m:t>
                        </m:r>
                        <m:r>
                          <a:rPr lang="pt-BR" sz="1600" b="1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pt-BR" sz="1600" b="1" i="0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𝐄</m:t>
                        </m:r>
                      </m:e>
                    </m:d>
                    <m:r>
                      <a:rPr lang="pt-BR" sz="1600" b="1" i="0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𝐈</m:t>
                    </m:r>
                    <m:r>
                      <a:rPr lang="pt-BR" sz="1600" b="0" i="0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BR" sz="1600" b="0" i="1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sSub>
                      <m:sSubPr>
                        <m:ctrlPr>
                          <a:rPr lang="pt-BR" sz="1600" b="0" i="0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600" b="0" i="0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pt-BR" sz="16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pt-BR" sz="1600" b="1" i="0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pt-BR" sz="1600" cap="none" dirty="0" err="1"/>
                  <a:t>on</a:t>
                </a:r>
                <a:r>
                  <a:rPr lang="pt-BR" sz="1600" cap="none" dirty="0"/>
                  <a:t> surface </a:t>
                </a:r>
                <a14:m>
                  <m:oMath xmlns:m="http://schemas.openxmlformats.org/officeDocument/2006/math">
                    <m:r>
                      <a:rPr lang="pt-BR" sz="1600" i="1" cap="none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pt-BR" sz="1600" cap="none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sz="1600" b="1" i="0" cap="none" smtClean="0"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pt-BR" sz="1600" b="0" i="1" cap="none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sz="1600" b="1" i="0" cap="none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1600" b="0" i="1" cap="none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sSup>
                            <m:sSupPr>
                              <m:ctrlPr>
                                <a:rPr lang="pt-BR" sz="1600" b="1" i="0" cap="none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600" b="1" i="0" cap="none" smtClean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p>
                              <m:r>
                                <a:rPr lang="pt-BR" sz="1600" b="0" i="1" cap="none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sz="1600" cap="none" dirty="0"/>
              </a:p>
              <a:p>
                <a:pPr marL="0" indent="0">
                  <a:buNone/>
                </a:pPr>
                <a:r>
                  <a:rPr lang="en-US" sz="1800" cap="none" dirty="0"/>
                  <a:t>where </a:t>
                </a:r>
                <a14:m>
                  <m:oMath xmlns:m="http://schemas.openxmlformats.org/officeDocument/2006/math">
                    <m:r>
                      <a:rPr lang="el-GR" sz="1800" b="1" cap="non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𝚯</m:t>
                    </m:r>
                  </m:oMath>
                </a14:m>
                <a:r>
                  <a:rPr lang="en-US" sz="1800" cap="none" dirty="0"/>
                  <a:t> , E and u are the stress, the strain and displacement fields.</a:t>
                </a:r>
                <a:endParaRPr lang="pt-BR" sz="1800" b="1" cap="none" dirty="0"/>
              </a:p>
              <a:p>
                <a:r>
                  <a:rPr lang="pt-BR" sz="1800" b="1" cap="none" dirty="0">
                    <a:solidFill>
                      <a:srgbClr val="FFFF00"/>
                    </a:solidFill>
                  </a:rPr>
                  <a:t>A </a:t>
                </a:r>
                <a:r>
                  <a:rPr lang="pt-BR" sz="1800" b="1" cap="none" dirty="0" err="1">
                    <a:solidFill>
                      <a:srgbClr val="FFFF00"/>
                    </a:solidFill>
                  </a:rPr>
                  <a:t>metric</a:t>
                </a:r>
                <a:r>
                  <a:rPr lang="pt-BR" sz="1800" b="1" cap="none" dirty="0">
                    <a:solidFill>
                      <a:srgbClr val="FFFF00"/>
                    </a:solidFill>
                  </a:rPr>
                  <a:t> tensor, in </a:t>
                </a:r>
                <a:r>
                  <a:rPr lang="pt-BR" sz="1800" b="1" cap="none" dirty="0" err="1">
                    <a:solidFill>
                      <a:srgbClr val="FFFF00"/>
                    </a:solidFill>
                  </a:rPr>
                  <a:t>this</a:t>
                </a:r>
                <a:r>
                  <a:rPr lang="pt-BR" sz="1800" b="1" cap="none" dirty="0">
                    <a:solidFill>
                      <a:srgbClr val="FFFF00"/>
                    </a:solidFill>
                  </a:rPr>
                  <a:t> case, in </a:t>
                </a:r>
                <a:r>
                  <a:rPr lang="pt-BR" sz="1800" b="1" cap="none" dirty="0" err="1">
                    <a:solidFill>
                      <a:srgbClr val="FFFF00"/>
                    </a:solidFill>
                  </a:rPr>
                  <a:t>spherical</a:t>
                </a:r>
                <a:r>
                  <a:rPr lang="pt-BR" sz="1800" b="1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sz="1800" b="1" cap="none" dirty="0" err="1">
                    <a:solidFill>
                      <a:srgbClr val="FFFF00"/>
                    </a:solidFill>
                  </a:rPr>
                  <a:t>coordinates</a:t>
                </a:r>
                <a:r>
                  <a:rPr lang="pt-BR" sz="1800" cap="none" dirty="0"/>
                  <a:t>, </a:t>
                </a:r>
                <a:r>
                  <a:rPr lang="pt-BR" sz="1800" cap="none" dirty="0" err="1"/>
                  <a:t>and</a:t>
                </a:r>
                <a:r>
                  <a:rPr lang="pt-BR" sz="1800" cap="none" dirty="0"/>
                  <a:t> its </a:t>
                </a:r>
                <a:r>
                  <a:rPr lang="pt-BR" sz="1800" cap="none" dirty="0" err="1"/>
                  <a:t>contravariant</a:t>
                </a:r>
                <a:r>
                  <a:rPr lang="pt-BR" sz="1800" cap="none" dirty="0"/>
                  <a:t>, 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800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1800" i="1" cap="non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BR" sz="1800" i="1" cap="non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pt-BR" sz="1800" i="1" cap="none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pt-BR" sz="1800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sz="1800" cap="none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r>
                  <a:rPr lang="pt-BR" sz="1800" cap="none" dirty="0"/>
                  <a:t>, </a:t>
                </a:r>
                <a:r>
                  <a:rPr lang="pt-BR" sz="1800" cap="none" dirty="0" err="1"/>
                  <a:t>and</a:t>
                </a:r>
                <a:r>
                  <a:rPr lang="pt-BR" sz="1800" cap="none" dirty="0"/>
                  <a:t> </a:t>
                </a:r>
                <a:r>
                  <a:rPr lang="pt-BR" sz="1800" cap="none" dirty="0" err="1"/>
                  <a:t>the</a:t>
                </a:r>
                <a:r>
                  <a:rPr lang="pt-BR" sz="1800" cap="none" dirty="0"/>
                  <a:t> </a:t>
                </a:r>
                <a:r>
                  <a:rPr lang="pt-BR" sz="1800" cap="none" dirty="0" err="1"/>
                  <a:t>initial</a:t>
                </a:r>
                <a:r>
                  <a:rPr lang="pt-BR" sz="1800" cap="none" dirty="0"/>
                  <a:t> </a:t>
                </a:r>
                <a:r>
                  <a:rPr lang="pt-BR" sz="1800" cap="none" dirty="0" err="1"/>
                  <a:t>conditions</a:t>
                </a:r>
                <a:r>
                  <a:rPr lang="pt-BR" sz="1800" cap="none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800" i="1" cap="non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800" i="1" cap="none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800" i="1" cap="none">
                            <a:latin typeface="Cambria Math" panose="02040503050406030204" pitchFamily="18" charset="0"/>
                          </a:rPr>
                          <m:t>₀</m:t>
                        </m:r>
                      </m:e>
                      <m:sup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𝑖𝑗</m:t>
                        </m:r>
                      </m:sup>
                    </m:sSup>
                    <m:r>
                      <a:rPr lang="pt-BR" sz="1800" i="1" cap="non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BR" sz="1800" i="1" cap="non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pt-BR" sz="1800" i="1" cap="none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func>
                                <m:func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pt-BR" sz="1800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sz="1800" cap="none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pt-BR" sz="1800" b="0" i="1" cap="none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sSub>
                                    <m:sSub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endParaRPr lang="pt-BR" sz="1800" cap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2B460C3-CA9B-6D45-5980-2D1CFFDD21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74" y="2062292"/>
                <a:ext cx="10363826" cy="4625379"/>
              </a:xfrm>
              <a:blipFill>
                <a:blip r:embed="rId3"/>
                <a:stretch>
                  <a:fillRect l="-647" t="-2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5816FE8-CD40-5CE6-B9D6-E1CA9678D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3806612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15BB1-4ECC-EBAC-9ADE-571045609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F11D5-A5BF-A63A-B268-288442D4E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of Fundamental Thermodynamics Variables and Functions to this New Field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189FF11-FF8D-A731-15F1-81CE0B03EFAF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74" y="2062292"/>
                <a:ext cx="10363826" cy="462537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pt-BR" sz="1800" cap="none" dirty="0"/>
                  <a:t>The </a:t>
                </a:r>
                <a:r>
                  <a:rPr lang="pt-BR" sz="1800" cap="none" dirty="0" err="1"/>
                  <a:t>solutionofthethermalfield</a:t>
                </a:r>
                <a:r>
                  <a:rPr lang="pt-BR" sz="1800" cap="none" dirty="0"/>
                  <a:t> Tensor </a:t>
                </a:r>
                <a14:m>
                  <m:oMath xmlns:m="http://schemas.openxmlformats.org/officeDocument/2006/math">
                    <m:r>
                      <a:rPr lang="pt-BR" sz="1800" b="1" cap="none"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pt-BR" sz="1800" cap="none" dirty="0"/>
                  <a:t>requires: </a:t>
                </a:r>
              </a:p>
              <a:p>
                <a:r>
                  <a:rPr lang="pt-BR" sz="1800" b="1" cap="none" dirty="0">
                    <a:solidFill>
                      <a:srgbClr val="FFFF00"/>
                    </a:solidFill>
                  </a:rPr>
                  <a:t>The Surface Free Energy </a:t>
                </a:r>
                <a:r>
                  <a:rPr lang="pt-BR" sz="1800" cap="none" dirty="0"/>
                  <a:t>[Ferreira, (2021, 2022, </a:t>
                </a:r>
                <a:r>
                  <a:rPr lang="pt-BR" sz="1800" cap="none" dirty="0" err="1"/>
                  <a:t>and</a:t>
                </a:r>
                <a:r>
                  <a:rPr lang="pt-BR" sz="1800" cap="none" dirty="0"/>
                  <a:t> 2024)]: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pt-BR" sz="1800" b="0" i="0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pt-BR" sz="1800" b="1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𝜸</m:t>
                          </m:r>
                        </m:e>
                        <m:sub>
                          <m: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1800" b="1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sz="1800" b="1" i="0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d>
                        <m:dPr>
                          <m:ctrlP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1800" b="1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800" b="1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pt-BR" sz="1800" b="1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pt-BR" sz="1800" b="1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  <m: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pt-BR" sz="1800" b="1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𝓼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pt-BR" sz="1800" b="1" i="0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800" b="1" i="0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p>
                              <m:r>
                                <a:rPr lang="pt-BR" sz="1800" b="1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pt-BR" sz="1800" b="1" i="0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𝐣</m:t>
                              </m:r>
                            </m:sup>
                          </m:sSup>
                          <m:r>
                            <a:rPr lang="pt-BR" sz="1800" b="1" i="0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pt-BR" sz="1800" b="1" i="0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1" i="0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𝐠</m:t>
                              </m:r>
                            </m:e>
                            <m:sub>
                              <m:r>
                                <a:rPr lang="pt-BR" sz="1800" b="1" i="0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𝐢𝐣</m:t>
                              </m:r>
                            </m:sub>
                          </m:sSub>
                          <m: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𝒅𝑨</m:t>
                          </m:r>
                        </m:e>
                      </m:nary>
                    </m:oMath>
                  </m:oMathPara>
                </a14:m>
                <a:endParaRPr lang="pt-BR" sz="1800" cap="none" dirty="0"/>
              </a:p>
              <a:p>
                <a:pPr marL="0" indent="0">
                  <a:buNone/>
                </a:pPr>
                <a:r>
                  <a:rPr lang="pt-BR" sz="1800" cap="none" dirty="0" err="1"/>
                  <a:t>Considering</a:t>
                </a:r>
                <a:r>
                  <a:rPr lang="pt-BR" sz="1800" cap="none" dirty="0"/>
                  <a:t> a 2-Sphere, </a:t>
                </a:r>
                <a:r>
                  <a:rPr lang="pt-BR" sz="1800" cap="none" dirty="0" err="1"/>
                  <a:t>the</a:t>
                </a:r>
                <a:r>
                  <a:rPr lang="pt-BR" sz="1800" cap="none" dirty="0"/>
                  <a:t> Ricci </a:t>
                </a:r>
                <a:r>
                  <a:rPr lang="pt-BR" sz="1800" cap="none" dirty="0" err="1"/>
                  <a:t>scalar</a:t>
                </a:r>
                <a:r>
                  <a:rPr lang="pt-BR" sz="1800" cap="none" dirty="0"/>
                  <a:t> </a:t>
                </a:r>
                <a:r>
                  <a:rPr lang="pt-BR" sz="1800" cap="none" dirty="0" err="1"/>
                  <a:t>is</a:t>
                </a:r>
                <a:r>
                  <a:rPr lang="pt-BR" sz="1800" cap="none" dirty="0"/>
                  <a:t> </a:t>
                </a:r>
                <a14:m>
                  <m:oMath xmlns:m="http://schemas.openxmlformats.org/officeDocument/2006/math"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=2/</m:t>
                    </m:r>
                    <m:sSubSup>
                      <m:sSubSupPr>
                        <m:ctrlPr>
                          <a:rPr lang="pt-BR" sz="1800" b="0" i="1" cap="none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1800" cap="none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pt-BR" sz="1800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𝑠𝑝ℎ</m:t>
                          </m:r>
                        </m:sup>
                      </m:sSubSup>
                      <m:r>
                        <a:rPr lang="pt-BR" sz="1800" b="0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800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800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pt-BR" sz="1800" b="0" i="1" cap="none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</a:rPr>
                            <m:t>3 </m:t>
                          </m:r>
                        </m:num>
                        <m:den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pt-BR" sz="1800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sz="1800" cap="none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num>
                            <m:den>
                              <m:sSubSup>
                                <m:sSubSup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func>
                                <m:funcPr>
                                  <m:ctrlP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pt-BR" sz="1800" b="0" i="0" cap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sz="1800" b="0" i="0" cap="none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pt-BR" sz="1800" b="0" i="1" cap="none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sSub>
                                    <m:sSubPr>
                                      <m:ctrlPr>
                                        <a:rPr lang="pt-BR" sz="1800" b="0" i="1" cap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b="0" i="1" cap="none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BR" sz="1800" b="0" i="1" cap="none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func>
                            </m:den>
                          </m:f>
                        </m:den>
                      </m:f>
                      <m:r>
                        <a:rPr lang="pt-BR" sz="1800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sz="1800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  <m: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sSubSup>
                            <m:sSubSupPr>
                              <m:ctrlPr>
                                <a:rPr lang="pt-BR" sz="1800" b="1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800" b="1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pt-BR" sz="1800" b="1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pt-BR" sz="1800" b="1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den>
                      </m:f>
                      <m:nary>
                        <m:naryPr>
                          <m:ctrlP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pt-BR" sz="1800" b="1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1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pt-BR" sz="1800" b="1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1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p>
                        <m:e>
                          <m: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1800" b="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e>
                      </m:nary>
                    </m:oMath>
                  </m:oMathPara>
                </a14:m>
                <a:endParaRPr lang="pt-BR" sz="1800" i="1" cap="none" dirty="0"/>
              </a:p>
              <a:p>
                <a:pPr marL="0" indent="0">
                  <a:buNone/>
                </a:pPr>
                <a:r>
                  <a:rPr lang="en-US" sz="1800" cap="none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800" cap="none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pt-BR" sz="1800" cap="none" dirty="0"/>
                  <a:t> is a </a:t>
                </a:r>
                <a:r>
                  <a:rPr lang="pt-BR" sz="1800" cap="none" dirty="0" err="1"/>
                  <a:t>dimensionless</a:t>
                </a:r>
                <a:r>
                  <a:rPr lang="pt-BR" sz="1800" cap="none" dirty="0"/>
                  <a:t> </a:t>
                </a:r>
                <a:r>
                  <a:rPr lang="pt-BR" sz="1800" cap="none" dirty="0" err="1"/>
                  <a:t>geometric</a:t>
                </a:r>
                <a:r>
                  <a:rPr lang="pt-BR" sz="1800" cap="none" dirty="0"/>
                  <a:t> </a:t>
                </a:r>
                <a:r>
                  <a:rPr lang="pt-BR" sz="1800" cap="none" dirty="0" err="1"/>
                  <a:t>function</a:t>
                </a:r>
                <a:r>
                  <a:rPr lang="pt-BR" sz="1800" cap="none" dirty="0"/>
                  <a:t>; its </a:t>
                </a:r>
                <a:r>
                  <a:rPr lang="pt-BR" sz="1800" cap="none" dirty="0" err="1"/>
                  <a:t>argument</a:t>
                </a:r>
                <a:r>
                  <a:rPr lang="pt-BR" sz="1800" cap="none" dirty="0"/>
                  <a:t>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800" cap="none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800" cap="none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1800" cap="non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1800" cap="non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sz="1800" cap="none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pt-BR" sz="1800" cap="none" dirty="0"/>
                  <a:t> </a:t>
                </a:r>
                <a:r>
                  <a:rPr lang="pt-BR" sz="1800" cap="none" dirty="0" err="1"/>
                  <a:t>is</a:t>
                </a:r>
                <a:r>
                  <a:rPr lang="pt-BR" sz="1800" cap="none" dirty="0"/>
                  <a:t> </a:t>
                </a:r>
                <a:r>
                  <a:rPr lang="pt-BR" sz="1800" cap="none" dirty="0" err="1"/>
                  <a:t>the</a:t>
                </a:r>
                <a:r>
                  <a:rPr lang="pt-BR" sz="1800" cap="none" dirty="0"/>
                  <a:t> </a:t>
                </a:r>
                <a:r>
                  <a:rPr lang="pt-BR" sz="1800" cap="none" dirty="0" err="1"/>
                  <a:t>only</a:t>
                </a:r>
                <a:r>
                  <a:rPr lang="pt-BR" sz="1800" cap="none" dirty="0"/>
                  <a:t> </a:t>
                </a:r>
                <a:r>
                  <a:rPr lang="pt-BR" sz="1800" cap="none" dirty="0" err="1"/>
                  <a:t>admissible</a:t>
                </a:r>
                <a:r>
                  <a:rPr lang="pt-BR" sz="1800" cap="none" dirty="0"/>
                  <a:t> </a:t>
                </a:r>
                <a:r>
                  <a:rPr lang="pt-BR" sz="1800" cap="none" dirty="0" err="1"/>
                  <a:t>scalar</a:t>
                </a:r>
                <a:r>
                  <a:rPr lang="pt-BR" sz="1800" cap="none" dirty="0"/>
                  <a:t> </a:t>
                </a:r>
                <a:r>
                  <a:rPr lang="pt-BR" sz="1800" cap="none" dirty="0" err="1"/>
                  <a:t>curvature</a:t>
                </a:r>
                <a:r>
                  <a:rPr lang="pt-BR" sz="1800" cap="none" dirty="0"/>
                  <a:t> </a:t>
                </a:r>
                <a:r>
                  <a:rPr lang="pt-BR" sz="1800" cap="none" dirty="0" err="1"/>
                  <a:t>invariant</a:t>
                </a:r>
                <a:r>
                  <a:rPr lang="pt-BR" sz="1800" cap="non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800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pt-BR" sz="1800" i="1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1800" i="1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pt-BR" sz="1800" i="1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800" b="0" i="1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18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pt-BR" sz="18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cap="non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cap="none" dirty="0"/>
                  <a:t>, </a:t>
                </a:r>
                <a14:m>
                  <m:oMath xmlns:m="http://schemas.openxmlformats.org/officeDocument/2006/math">
                    <m:r>
                      <a:rPr lang="el-GR" sz="1800" b="1" cap="non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en-US" sz="1800" cap="none" dirty="0"/>
                  <a:t>, and </a:t>
                </a:r>
                <a14:m>
                  <m:oMath xmlns:m="http://schemas.openxmlformats.org/officeDocument/2006/math"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cap="none" dirty="0"/>
                  <a:t> are the surface energy in [</a:t>
                </a:r>
                <a:r>
                  <a:rPr lang="en-US" sz="1800" i="1" cap="none" dirty="0"/>
                  <a:t>J</a:t>
                </a:r>
                <a:r>
                  <a:rPr lang="en-US" sz="1800" cap="none" dirty="0"/>
                  <a:t>.</a:t>
                </a:r>
                <a:r>
                  <a:rPr lang="en-US" sz="1800" i="1" cap="none" dirty="0"/>
                  <a:t>m</a:t>
                </a:r>
                <a:r>
                  <a:rPr lang="en-US" sz="1800" cap="none" baseline="30000" dirty="0"/>
                  <a:t>-2</a:t>
                </a:r>
                <a:r>
                  <a:rPr lang="en-US" sz="1800" cap="none" dirty="0"/>
                  <a:t>], the radius at the thermodynamic state 0 (assumed as equilibrium or initial condition vector radius for Equilibrium, i.e., </a:t>
                </a:r>
                <a14:m>
                  <m:oMath xmlns:m="http://schemas.openxmlformats.org/officeDocument/2006/math"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pt-BR" sz="1800" b="0" i="0" cap="none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pt-BR" sz="1800" b="0" i="0" cap="none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1800" i="1" cap="none">
                            <a:latin typeface="Cambria Math" panose="02040503050406030204" pitchFamily="18" charset="0"/>
                          </a:rPr>
                        </m:ctrlPr>
                      </m:sSubPr>
                      <m:e/>
                      <m:sub>
                        <m:r>
                          <a:rPr lang="pt-BR" sz="1800" i="1" cap="none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800" cap="none" dirty="0"/>
                  <a:t>) in [</a:t>
                </a:r>
                <a:r>
                  <a:rPr lang="en-US" sz="1800" i="1" cap="none" dirty="0"/>
                  <a:t>m</a:t>
                </a:r>
                <a:r>
                  <a:rPr lang="en-US" sz="1800" cap="none" dirty="0"/>
                  <a:t>], the surface stress tensor in [N.m</a:t>
                </a:r>
                <a:r>
                  <a:rPr lang="en-US" sz="1800" cap="none" baseline="30000" dirty="0"/>
                  <a:t>-1</a:t>
                </a:r>
                <a:r>
                  <a:rPr lang="en-US" sz="1800" cap="none" dirty="0"/>
                  <a:t>], and the Ricci scalar, respectively.</a:t>
                </a:r>
                <a:endParaRPr lang="pt-BR" sz="1800" b="1" cap="none" dirty="0"/>
              </a:p>
              <a:p>
                <a:pPr marL="0" indent="0">
                  <a:buNone/>
                </a:pPr>
                <a:endParaRPr lang="pt-BR" sz="1800" cap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189FF11-FF8D-A731-15F1-81CE0B03EF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74" y="2062292"/>
                <a:ext cx="10363826" cy="4625379"/>
              </a:xfrm>
              <a:blipFill>
                <a:blip r:embed="rId3"/>
                <a:stretch>
                  <a:fillRect l="-529" t="-3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6A57D50C-49A0-A08B-DD8F-5F46A30D2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2384406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F15AF-2DCF-6D5A-6A3C-A4424F68E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2FDC3-0E1C-29AE-0F3F-6F3CE3371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of Fundamental Thermodynamics Variables and Functions to this New Field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961A3AF-CBFB-A9A7-6639-59C5AEBA3C5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74" y="2062292"/>
                <a:ext cx="10363826" cy="462537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sz="1800" cap="none" dirty="0"/>
                  <a:t>The </a:t>
                </a:r>
                <a:r>
                  <a:rPr lang="pt-BR" sz="1800" cap="none" dirty="0" err="1"/>
                  <a:t>solutionofthethermalfield</a:t>
                </a:r>
                <a:r>
                  <a:rPr lang="pt-BR" sz="1800" cap="none" dirty="0"/>
                  <a:t> Tensor </a:t>
                </a:r>
                <a14:m>
                  <m:oMath xmlns:m="http://schemas.openxmlformats.org/officeDocument/2006/math">
                    <m:r>
                      <a:rPr lang="pt-BR" sz="1800" b="1" cap="none"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pt-BR" sz="1800" cap="none" dirty="0"/>
                  <a:t>requires: </a:t>
                </a:r>
              </a:p>
              <a:p>
                <a:r>
                  <a:rPr lang="pt-BR" sz="1800" b="1" cap="none" dirty="0">
                    <a:solidFill>
                      <a:srgbClr val="FFFF00"/>
                    </a:solidFill>
                  </a:rPr>
                  <a:t>The Surface </a:t>
                </a:r>
                <a:r>
                  <a:rPr lang="pt-BR" sz="1800" b="1" cap="none" dirty="0" err="1">
                    <a:solidFill>
                      <a:srgbClr val="FFFF00"/>
                    </a:solidFill>
                  </a:rPr>
                  <a:t>Entropy</a:t>
                </a:r>
                <a:r>
                  <a:rPr lang="pt-BR" sz="1800" b="1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sz="1800" cap="none" dirty="0"/>
                  <a:t>[Ferreira, (2021, 2022, </a:t>
                </a:r>
                <a:r>
                  <a:rPr lang="pt-BR" sz="1800" cap="none" dirty="0" err="1"/>
                  <a:t>and</a:t>
                </a:r>
                <a:r>
                  <a:rPr lang="pt-BR" sz="1800" cap="none" dirty="0"/>
                  <a:t> 2024)]: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pt-BR" sz="1800" b="0" i="0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pt-BR" sz="1800" b="0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𝜸</m:t>
                              </m:r>
                            </m:e>
                            <m:sub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pt-BR" sz="1800" b="0" i="0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pt-BR" sz="1800" b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d>
                        <m:dPr>
                          <m:ctrlP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pt-BR" sz="1800" b="1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  <m:r>
                            <m:rPr>
                              <m:sty m:val="p"/>
                            </m:rPr>
                            <a:rPr lang="pt-BR" sz="1800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𝓼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p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𝐣</m:t>
                              </m:r>
                            </m:sup>
                          </m:sSup>
                          <m:r>
                            <a:rPr lang="pt-BR" sz="1800" b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𝐠</m:t>
                              </m:r>
                            </m:e>
                            <m:sub>
                              <m: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𝐢𝐣</m:t>
                              </m:r>
                            </m:sub>
                          </m:sSub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𝒅𝑨</m:t>
                          </m:r>
                        </m:e>
                      </m:nary>
                    </m:oMath>
                  </m:oMathPara>
                </a14:m>
                <a:endParaRPr lang="pt-BR" sz="1800" cap="none" dirty="0"/>
              </a:p>
              <a:p>
                <a:pPr marL="0" indent="0">
                  <a:buNone/>
                </a:pPr>
                <a:r>
                  <a:rPr lang="pt-BR" sz="1800" cap="none" dirty="0" err="1"/>
                  <a:t>Considering</a:t>
                </a:r>
                <a:r>
                  <a:rPr lang="pt-BR" sz="1800" cap="none" dirty="0"/>
                  <a:t> a 2-Sphere, </a:t>
                </a:r>
                <a:r>
                  <a:rPr lang="pt-BR" sz="1800" cap="none" dirty="0" err="1"/>
                  <a:t>the</a:t>
                </a:r>
                <a:r>
                  <a:rPr lang="pt-BR" sz="1800" cap="none" dirty="0"/>
                  <a:t> Ricci </a:t>
                </a:r>
                <a:r>
                  <a:rPr lang="pt-BR" sz="1800" cap="none" dirty="0" err="1"/>
                  <a:t>scalar</a:t>
                </a:r>
                <a:r>
                  <a:rPr lang="pt-BR" sz="1800" cap="none" dirty="0"/>
                  <a:t> </a:t>
                </a:r>
                <a:r>
                  <a:rPr lang="pt-BR" sz="1800" cap="none" dirty="0" err="1"/>
                  <a:t>is</a:t>
                </a:r>
                <a:r>
                  <a:rPr lang="pt-BR" sz="1800" cap="none" dirty="0"/>
                  <a:t> </a:t>
                </a:r>
                <a14:m>
                  <m:oMath xmlns:m="http://schemas.openxmlformats.org/officeDocument/2006/math"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=2/</m:t>
                    </m:r>
                    <m:sSubSup>
                      <m:sSubSupPr>
                        <m:ctrlPr>
                          <a:rPr lang="pt-BR" sz="1800" b="0" i="1" cap="none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1800" cap="none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pt-BR" sz="1800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𝑠𝑝ℎ</m:t>
                          </m:r>
                        </m:sup>
                      </m:sSubSup>
                      <m:r>
                        <a:rPr lang="pt-BR" sz="1800" b="0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800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800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pt-BR" sz="1800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f>
                        <m:fPr>
                          <m:ctrlPr>
                            <a:rPr lang="pt-BR" sz="1800" b="0" i="1" cap="none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</a:rPr>
                            <m:t>3 </m:t>
                          </m:r>
                        </m:num>
                        <m:den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pt-BR" sz="1800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sz="1800" cap="none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num>
                            <m:den>
                              <m:sSubSup>
                                <m:sSubSup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func>
                                <m:funcPr>
                                  <m:ctrlP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pt-BR" sz="1800" b="0" i="0" cap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sz="1800" b="0" i="0" cap="none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pt-BR" sz="1800" b="0" i="1" cap="none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sSub>
                                    <m:sSubPr>
                                      <m:ctrlPr>
                                        <a:rPr lang="pt-BR" sz="1800" b="0" i="1" cap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b="0" i="1" cap="none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BR" sz="1800" b="0" i="1" cap="none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func>
                            </m:den>
                          </m:f>
                        </m:den>
                      </m:f>
                      <m:r>
                        <a:rPr lang="pt-BR" sz="1800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sz="1800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1800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sz="1800" b="1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pt-BR" sz="1800" b="1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800" b="1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pt-BR" sz="1800" b="1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den>
                      </m:f>
                      <m:nary>
                        <m:naryPr>
                          <m:ctrlP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p>
                        <m:e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e>
                      </m:nary>
                    </m:oMath>
                  </m:oMathPara>
                </a14:m>
                <a:endParaRPr lang="pt-BR" sz="1800" cap="none" dirty="0"/>
              </a:p>
              <a:p>
                <a:pPr marL="0" indent="0">
                  <a:buNone/>
                </a:pPr>
                <a:r>
                  <a:rPr lang="en-US" sz="1800" cap="none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800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pt-BR" sz="1800" i="1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1800" i="1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pt-BR" sz="1800" i="1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800" b="0" i="1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18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pt-BR" sz="18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cap="non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cap="none" dirty="0"/>
                  <a:t>, </a:t>
                </a:r>
                <a14:m>
                  <m:oMath xmlns:m="http://schemas.openxmlformats.org/officeDocument/2006/math">
                    <m:r>
                      <a:rPr lang="el-GR" sz="1800" b="1" cap="non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en-US" sz="1800" cap="none" dirty="0"/>
                  <a:t>, and </a:t>
                </a:r>
                <a14:m>
                  <m:oMath xmlns:m="http://schemas.openxmlformats.org/officeDocument/2006/math"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cap="none" dirty="0"/>
                  <a:t> are the surface energy in [</a:t>
                </a:r>
                <a:r>
                  <a:rPr lang="en-US" sz="1800" i="1" cap="none" dirty="0"/>
                  <a:t>J</a:t>
                </a:r>
                <a:r>
                  <a:rPr lang="en-US" sz="1800" cap="none" dirty="0"/>
                  <a:t>.</a:t>
                </a:r>
                <a:r>
                  <a:rPr lang="en-US" sz="1800" i="1" cap="none" dirty="0"/>
                  <a:t>m</a:t>
                </a:r>
                <a:r>
                  <a:rPr lang="en-US" sz="1800" cap="none" baseline="30000" dirty="0"/>
                  <a:t>-2</a:t>
                </a:r>
                <a:r>
                  <a:rPr lang="en-US" sz="1800" cap="none" dirty="0"/>
                  <a:t>], the radius at the thermodynamic state 0 (assumed as equilibrium or initial condition vector radius for Equilibrium, i.e., </a:t>
                </a:r>
                <a14:m>
                  <m:oMath xmlns:m="http://schemas.openxmlformats.org/officeDocument/2006/math"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pt-BR" sz="1800" b="0" i="0" cap="none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pt-BR" sz="1800" b="0" i="0" cap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800" i="1" cap="none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sz="1800" i="1" cap="none">
                        <a:latin typeface="Cambria Math" panose="02040503050406030204" pitchFamily="18" charset="0"/>
                      </a:rPr>
                      <m:t>₀</m:t>
                    </m:r>
                    <m:sSub>
                      <m:sSubPr>
                        <m:ctrlPr>
                          <a:rPr lang="pt-BR" sz="1800" i="1" cap="none">
                            <a:latin typeface="Cambria Math" panose="02040503050406030204" pitchFamily="18" charset="0"/>
                          </a:rPr>
                        </m:ctrlPr>
                      </m:sSubPr>
                      <m:e/>
                      <m:sub>
                        <m:r>
                          <a:rPr lang="pt-BR" sz="1800" i="1" cap="none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800" cap="none" dirty="0"/>
                  <a:t>) in [</a:t>
                </a:r>
                <a:r>
                  <a:rPr lang="en-US" sz="1800" i="1" cap="none" dirty="0"/>
                  <a:t>m</a:t>
                </a:r>
                <a:r>
                  <a:rPr lang="en-US" sz="1800" cap="none" dirty="0"/>
                  <a:t>], the surface stress tensor in [N.m</a:t>
                </a:r>
                <a:r>
                  <a:rPr lang="en-US" sz="1800" cap="none" baseline="30000" dirty="0"/>
                  <a:t>-1</a:t>
                </a:r>
                <a:r>
                  <a:rPr lang="en-US" sz="1800" cap="none" dirty="0"/>
                  <a:t>], and the Ricci scalar, respectively.</a:t>
                </a:r>
                <a:endParaRPr lang="pt-BR" sz="1800" b="1" cap="none" dirty="0"/>
              </a:p>
              <a:p>
                <a:pPr marL="0" indent="0">
                  <a:buNone/>
                </a:pPr>
                <a:endParaRPr lang="pt-BR" sz="1800" cap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961A3AF-CBFB-A9A7-6639-59C5AEBA3C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74" y="2062292"/>
                <a:ext cx="10363826" cy="4625379"/>
              </a:xfrm>
              <a:blipFill>
                <a:blip r:embed="rId3"/>
                <a:stretch>
                  <a:fillRect l="-647" t="-264" b="-10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E669EB53-2B56-5434-2EA4-B505CEC3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4119303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256BA-FBD3-35EA-4F63-22C35521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04E43-48DB-B192-D52D-35AD2BAFB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of Fundamental Thermodynamics Variables and Functions to this New Field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6382A4A-BBB3-2C12-2B8D-3797FEDCC74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665871" y="2062292"/>
                <a:ext cx="10991557" cy="4625379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pt-BR" sz="1800" cap="none" dirty="0"/>
                  <a:t>The </a:t>
                </a:r>
                <a:r>
                  <a:rPr lang="pt-BR" sz="1800" cap="none" dirty="0" err="1"/>
                  <a:t>solutionofthethermalfield</a:t>
                </a:r>
                <a:r>
                  <a:rPr lang="pt-BR" sz="1800" cap="none" dirty="0"/>
                  <a:t> Tensor </a:t>
                </a:r>
                <a14:m>
                  <m:oMath xmlns:m="http://schemas.openxmlformats.org/officeDocument/2006/math">
                    <m:r>
                      <a:rPr lang="pt-BR" sz="1800" b="1" cap="none"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pt-BR" sz="1800" cap="none" dirty="0"/>
                  <a:t>requires: </a:t>
                </a:r>
              </a:p>
              <a:p>
                <a:r>
                  <a:rPr lang="pt-BR" sz="1800" b="1" cap="none" dirty="0">
                    <a:solidFill>
                      <a:srgbClr val="FFFF00"/>
                    </a:solidFill>
                  </a:rPr>
                  <a:t>The Surface Energy </a:t>
                </a:r>
                <a:r>
                  <a:rPr lang="pt-BR" sz="1800" b="1" cap="none" dirty="0" err="1">
                    <a:solidFill>
                      <a:srgbClr val="FFFF00"/>
                    </a:solidFill>
                  </a:rPr>
                  <a:t>Potential</a:t>
                </a:r>
                <a:r>
                  <a:rPr lang="pt-BR" sz="1800" b="1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sz="1800" cap="none" dirty="0"/>
                  <a:t>[Ferreira, (2021, 2022, </a:t>
                </a:r>
                <a:r>
                  <a:rPr lang="pt-BR" sz="1800" cap="none" dirty="0" err="1"/>
                  <a:t>and</a:t>
                </a:r>
                <a:r>
                  <a:rPr lang="pt-BR" sz="1800" cap="none" dirty="0"/>
                  <a:t> 2024)]: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pt-BR" sz="1800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pt-BR" sz="1800" b="0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𝜸</m:t>
                              </m:r>
                            </m:e>
                            <m:sub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1800" b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𝚽</m:t>
                          </m:r>
                          <m:d>
                            <m:dPr>
                              <m:ctrlP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sz="1800" b="1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800" b="1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pt-BR" sz="1800" b="1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  <m:sup>
                                  <m:r>
                                    <a:rPr lang="pt-BR" sz="1800" b="1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𝓼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pt-BR" sz="1800" b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1800" b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𝚺</m:t>
                                  </m:r>
                                </m:e>
                                <m:sup>
                                  <m:r>
                                    <a:rPr lang="pt-BR" sz="1800" b="1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pt-BR" sz="1800" b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𝐣</m:t>
                                  </m:r>
                                </m:sup>
                              </m:sSup>
                              <m: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1800" b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𝐠</m:t>
                                  </m:r>
                                </m:e>
                                <m:sub>
                                  <m:r>
                                    <a:rPr lang="pt-BR" sz="1800" b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𝐢𝐣</m:t>
                                  </m:r>
                                </m:sub>
                              </m:sSub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𝒅𝑨</m:t>
                              </m:r>
                            </m:e>
                          </m:nary>
                        </m:e>
                      </m:d>
                      <m:r>
                        <a:rPr lang="pt-BR" sz="1800" b="0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800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800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bSup>
                            <m:sSubSup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f>
                        <m:fPr>
                          <m:ctrlP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pt-BR" sz="1800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800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𝑚𝑛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𝑚𝑛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1800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sz="1800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den>
                      </m:f>
                      <m:sSub>
                        <m:sSubPr>
                          <m:ctrlP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nary>
                        <m:naryPr>
                          <m:limLoc m:val="undOvr"/>
                          <m:ctrlP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𝓼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p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𝐣</m:t>
                              </m:r>
                            </m:sup>
                          </m:sSup>
                          <m:r>
                            <a:rPr lang="pt-BR" sz="1800" b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𝐠</m:t>
                              </m:r>
                            </m:e>
                            <m:sub>
                              <m: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𝐢𝐣</m:t>
                              </m:r>
                            </m:sub>
                          </m:sSub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𝒅𝑨</m:t>
                          </m:r>
                        </m:e>
                      </m:nary>
                    </m:oMath>
                  </m:oMathPara>
                </a14:m>
                <a:endParaRPr lang="pt-BR" sz="1800" cap="none" dirty="0"/>
              </a:p>
              <a:p>
                <a:pPr marL="0" indent="0">
                  <a:buNone/>
                </a:pPr>
                <a:r>
                  <a:rPr lang="pt-BR" sz="1800" cap="none" dirty="0" err="1"/>
                  <a:t>Considering</a:t>
                </a:r>
                <a:r>
                  <a:rPr lang="pt-BR" sz="1800" cap="none" dirty="0"/>
                  <a:t> a 2-Sphere, </a:t>
                </a:r>
                <a:r>
                  <a:rPr lang="pt-BR" sz="1800" cap="none" dirty="0" err="1"/>
                  <a:t>the</a:t>
                </a:r>
                <a:r>
                  <a:rPr lang="pt-BR" sz="1800" cap="none" dirty="0"/>
                  <a:t> Ricci </a:t>
                </a:r>
                <a:r>
                  <a:rPr lang="pt-BR" sz="1800" cap="none" dirty="0" err="1"/>
                  <a:t>scalar</a:t>
                </a:r>
                <a:r>
                  <a:rPr lang="pt-BR" sz="1800" cap="none" dirty="0"/>
                  <a:t> </a:t>
                </a:r>
                <a:r>
                  <a:rPr lang="pt-BR" sz="1800" cap="none" dirty="0" err="1"/>
                  <a:t>is</a:t>
                </a:r>
                <a:r>
                  <a:rPr lang="pt-BR" sz="1800" cap="none" dirty="0"/>
                  <a:t> </a:t>
                </a:r>
                <a14:m>
                  <m:oMath xmlns:m="http://schemas.openxmlformats.org/officeDocument/2006/math"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=2/</m:t>
                    </m:r>
                    <m:sSubSup>
                      <m:sSubSupPr>
                        <m:ctrlPr>
                          <a:rPr lang="pt-BR" sz="1800" b="0" i="1" cap="none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1800" cap="none" dirty="0"/>
                  <a:t>,  </a:t>
                </a:r>
                <a:r>
                  <a:rPr lang="pt-BR" sz="1800" cap="none" dirty="0" err="1"/>
                  <a:t>since</a:t>
                </a:r>
                <a:r>
                  <a:rPr lang="pt-BR" sz="1800" cap="non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b="0" i="0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800" b="0" i="0" cap="none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1800" cap="non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b="0" i="0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800" b="0" i="0" cap="none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pt-BR" sz="1800" b="0" i="1" cap="none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𝑖𝑗</m:t>
                        </m:r>
                      </m:sup>
                    </m:sSubSup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pt-BR" sz="1800" cap="none" dirty="0"/>
                  <a:t> and </a:t>
                </a:r>
                <a14:m>
                  <m:oMath xmlns:m="http://schemas.openxmlformats.org/officeDocument/2006/math">
                    <m:r>
                      <a:rPr lang="pt-BR" sz="1800" i="1" cap="none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1800" i="1" cap="none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800" i="1" cap="none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pt-BR" sz="1800" cap="non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pt-BR" sz="1800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𝑠𝑝ℎ</m:t>
                          </m:r>
                        </m:sup>
                      </m:sSup>
                      <m:r>
                        <a:rPr lang="pt-BR" sz="1800" i="1" cap="non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800" i="1" cap="non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800" i="1" cap="none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pt-BR" sz="1800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−6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func>
                                    <m:func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pt-BR" sz="1800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sz="1800" cap="none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func>
                                    <m:func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pt-BR" sz="1800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sz="1800" cap="none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func>
                                </m:den>
                              </m:f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  <m:sup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den>
                                  </m:f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func>
                                        <m:func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p>
                                            <m:sSupPr>
                                              <m:ctrlPr>
                                                <a:rPr lang="pt-BR" sz="1800" cap="none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pt-BR" sz="1800" cap="none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sz="1800" i="1" cap="none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fName>
                                        <m:e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func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  <m:sup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func>
                                        <m:func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p>
                                            <m:sSupPr>
                                              <m:ctrlPr>
                                                <a:rPr lang="pt-BR" sz="1800" cap="none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pt-BR" sz="1800" cap="none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sz="1800" i="1" cap="none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pt-BR" sz="1800" i="1" cap="none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800" i="1" cap="none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800" i="1" cap="none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1800" i="1" cap="none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pt-BR" sz="1800" b="0" i="1" cap="none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pt-BR" sz="18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  <m:sSub>
                        <m:sSubPr>
                          <m:ctrlPr>
                            <a:rPr lang="pt-BR" sz="1800" cap="non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800" cap="none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1800" b="0" i="0" cap="none" smtClean="0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d>
                        <m:dPr>
                          <m:ctrlPr>
                            <a:rPr lang="pt-BR" sz="1800" b="0" i="1" cap="none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pt-BR" sz="1800" cap="none" dirty="0"/>
              </a:p>
              <a:p>
                <a:pPr marL="0" indent="0">
                  <a:buNone/>
                </a:pPr>
                <a:r>
                  <a:rPr lang="en-US" sz="1800" cap="none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800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pt-BR" sz="1800" i="1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1800" i="1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pt-BR" sz="1800" i="1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800" b="0" i="1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18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pt-BR" sz="18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cap="non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cap="none" dirty="0"/>
                  <a:t>, </a:t>
                </a:r>
                <a14:m>
                  <m:oMath xmlns:m="http://schemas.openxmlformats.org/officeDocument/2006/math">
                    <m:r>
                      <a:rPr lang="el-GR" sz="1800" b="1" cap="non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en-US" sz="1800" cap="none" dirty="0"/>
                  <a:t>, and </a:t>
                </a:r>
                <a14:m>
                  <m:oMath xmlns:m="http://schemas.openxmlformats.org/officeDocument/2006/math"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cap="none" dirty="0"/>
                  <a:t> are the surface energy in [</a:t>
                </a:r>
                <a:r>
                  <a:rPr lang="en-US" sz="1800" i="1" cap="none" dirty="0"/>
                  <a:t>J</a:t>
                </a:r>
                <a:r>
                  <a:rPr lang="en-US" sz="1800" cap="none" dirty="0"/>
                  <a:t>.</a:t>
                </a:r>
                <a:r>
                  <a:rPr lang="en-US" sz="1800" i="1" cap="none" dirty="0"/>
                  <a:t>m</a:t>
                </a:r>
                <a:r>
                  <a:rPr lang="en-US" sz="1800" cap="none" baseline="30000" dirty="0"/>
                  <a:t>-2</a:t>
                </a:r>
                <a:r>
                  <a:rPr lang="en-US" sz="1800" cap="none" dirty="0"/>
                  <a:t>], the radius at the thermodynamic state 0 (assumed as equilibrium or initial condition vector radius for Equilibrium, i.e., </a:t>
                </a:r>
                <a14:m>
                  <m:oMath xmlns:m="http://schemas.openxmlformats.org/officeDocument/2006/math"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pt-BR" sz="1800" b="0" i="0" cap="none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pt-BR" sz="1800" b="0" i="0" cap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800" i="1" cap="none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sz="1800" i="1" cap="none">
                        <a:latin typeface="Cambria Math" panose="02040503050406030204" pitchFamily="18" charset="0"/>
                      </a:rPr>
                      <m:t>₀</m:t>
                    </m:r>
                    <m:sSub>
                      <m:sSubPr>
                        <m:ctrlPr>
                          <a:rPr lang="pt-BR" sz="1800" i="1" cap="none">
                            <a:latin typeface="Cambria Math" panose="02040503050406030204" pitchFamily="18" charset="0"/>
                          </a:rPr>
                        </m:ctrlPr>
                      </m:sSubPr>
                      <m:e/>
                      <m:sub>
                        <m:r>
                          <a:rPr lang="pt-BR" sz="1800" i="1" cap="none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800" cap="none" dirty="0"/>
                  <a:t>) in [</a:t>
                </a:r>
                <a:r>
                  <a:rPr lang="en-US" sz="1800" i="1" cap="none" dirty="0"/>
                  <a:t>m</a:t>
                </a:r>
                <a:r>
                  <a:rPr lang="en-US" sz="1800" cap="none" dirty="0"/>
                  <a:t>], the surface stress tensor in [N.m</a:t>
                </a:r>
                <a:r>
                  <a:rPr lang="en-US" sz="1800" cap="none" baseline="30000" dirty="0"/>
                  <a:t>-1</a:t>
                </a:r>
                <a:r>
                  <a:rPr lang="en-US" sz="1800" cap="none" dirty="0"/>
                  <a:t>], and the Ricci scalar, respectively.</a:t>
                </a:r>
                <a:endParaRPr lang="pt-BR" sz="1800" b="1" cap="none" dirty="0"/>
              </a:p>
              <a:p>
                <a:pPr marL="0" indent="0">
                  <a:buNone/>
                </a:pPr>
                <a:endParaRPr lang="pt-BR" sz="1800" cap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6382A4A-BBB3-2C12-2B8D-3797FEDCC7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665871" y="2062292"/>
                <a:ext cx="10991557" cy="4625379"/>
              </a:xfrm>
              <a:blipFill>
                <a:blip r:embed="rId3"/>
                <a:stretch>
                  <a:fillRect l="-333" t="-2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6E0D436F-9E89-E4FD-7970-D3F0C8D6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3912867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D46C6-2133-8859-4F1E-8033EDFA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5DACC-4A8C-D1D9-0CEF-D8CC5F550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of Fundamental Thermodynamics Variables and Functions to this New Field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0D9AE1F-D7AE-95F1-1894-F636BAE5B626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773723" y="2062292"/>
                <a:ext cx="10883705" cy="4625379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pt-BR" sz="1800" cap="none" dirty="0"/>
                  <a:t>The </a:t>
                </a:r>
                <a:r>
                  <a:rPr lang="pt-BR" sz="1800" cap="none" dirty="0" err="1"/>
                  <a:t>solutionofthethermalfield</a:t>
                </a:r>
                <a:r>
                  <a:rPr lang="pt-BR" sz="1800" cap="none" dirty="0"/>
                  <a:t> Tensor </a:t>
                </a:r>
                <a14:m>
                  <m:oMath xmlns:m="http://schemas.openxmlformats.org/officeDocument/2006/math">
                    <m:r>
                      <a:rPr lang="pt-BR" sz="1800" b="1" cap="none"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pt-BR" sz="1800" cap="none" dirty="0"/>
                  <a:t>requires: </a:t>
                </a:r>
              </a:p>
              <a:p>
                <a:r>
                  <a:rPr lang="pt-BR" sz="1800" b="1" cap="none" dirty="0">
                    <a:solidFill>
                      <a:srgbClr val="FFFF00"/>
                    </a:solidFill>
                  </a:rPr>
                  <a:t>The Surface </a:t>
                </a:r>
                <a:r>
                  <a:rPr lang="pt-BR" sz="1800" b="1" cap="none" dirty="0" err="1">
                    <a:solidFill>
                      <a:srgbClr val="FFFF00"/>
                    </a:solidFill>
                  </a:rPr>
                  <a:t>Entropy</a:t>
                </a:r>
                <a:r>
                  <a:rPr lang="pt-BR" sz="1800" b="1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sz="1800" b="1" cap="none" dirty="0" err="1">
                    <a:solidFill>
                      <a:srgbClr val="FFFF00"/>
                    </a:solidFill>
                  </a:rPr>
                  <a:t>Potential</a:t>
                </a:r>
                <a:r>
                  <a:rPr lang="pt-BR" sz="1800" b="1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sz="1800" cap="none" dirty="0"/>
                  <a:t>[Ferreira, (2021, 2022, </a:t>
                </a:r>
                <a:r>
                  <a:rPr lang="pt-BR" sz="1800" cap="none" dirty="0" err="1"/>
                  <a:t>and</a:t>
                </a:r>
                <a:r>
                  <a:rPr lang="pt-BR" sz="1800" cap="none" dirty="0"/>
                  <a:t> 2024)]: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pt-BR" sz="1800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pt-BR" sz="1800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pt-BR" sz="1800" b="0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1800" b="0" i="0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sSub>
                        <m:sSubPr>
                          <m:ctrlP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𝜸</m:t>
                              </m:r>
                            </m:e>
                            <m:sub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1800" b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𝚽</m:t>
                          </m:r>
                          <m:d>
                            <m:dPr>
                              <m:ctrlP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sz="1800" b="1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800" b="1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pt-BR" sz="1800" b="1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  <m:sup>
                                  <m:r>
                                    <a:rPr lang="pt-BR" sz="1800" b="1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𝓼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pt-BR" sz="1800" b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1800" b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𝚺</m:t>
                                  </m:r>
                                </m:e>
                                <m:sup>
                                  <m:r>
                                    <a:rPr lang="pt-BR" sz="1800" b="1" i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pt-BR" sz="1800" b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𝐣</m:t>
                                  </m:r>
                                </m:sup>
                              </m:sSup>
                              <m: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1800" b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𝐠</m:t>
                                  </m:r>
                                </m:e>
                                <m:sub>
                                  <m:r>
                                    <a:rPr lang="pt-BR" sz="1800" b="1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𝐢𝐣</m:t>
                                  </m:r>
                                </m:sub>
                              </m:sSub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𝒅𝑨</m:t>
                              </m:r>
                            </m:e>
                          </m:nary>
                        </m:e>
                      </m:d>
                      <m:r>
                        <a:rPr lang="pt-BR" sz="1800" b="0" i="1" cap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800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800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pt-BR" sz="1800" b="0" i="0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bSup>
                            <m:sSubSupPr>
                              <m:ctrlPr>
                                <a:rPr lang="pt-BR" sz="1800" b="0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800" b="0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sz="1800" b="0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pt-BR" sz="1800" b="0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f>
                        <m:fPr>
                          <m:ctrlP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pt-BR" sz="1800" b="0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800" b="0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pt-BR" sz="1800" b="0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pt-BR" sz="1800" b="0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pt-BR" sz="1800" b="0" i="0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800" b="0" i="0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pt-BR" sz="1800" b="0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1800" b="0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0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pt-BR" sz="1800" b="0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pt-BR" sz="1800" b="0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1800" b="0" i="1" cap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1800" b="0" i="1" cap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b="0" i="1" cap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𝑚𝑛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pt-BR" sz="1800" b="0" i="1" cap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1800" b="0" i="1" cap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pt-BR" sz="1800" b="0" i="1" cap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pt-BR" sz="1800" b="0" i="1" cap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pt-BR" sz="1800" b="0" i="1" cap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𝑚𝑛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pt-BR" sz="1800" b="0" i="1" cap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1800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sz="1800" i="1" cap="non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1800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den>
                      </m:f>
                      <m:sSub>
                        <m:sSubPr>
                          <m:ctrlP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pt-BR" sz="1800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nary>
                        <m:naryPr>
                          <m:limLoc m:val="undOvr"/>
                          <m:ctrlP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𝓼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p>
                              <m:r>
                                <a:rPr lang="pt-BR" sz="1800" b="1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𝐣</m:t>
                              </m:r>
                            </m:sup>
                          </m:sSup>
                          <m:r>
                            <a:rPr lang="pt-BR" sz="1800" b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𝐠</m:t>
                              </m:r>
                            </m:e>
                            <m:sub>
                              <m:r>
                                <a:rPr lang="pt-BR" sz="1800" b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𝐢𝐣</m:t>
                              </m:r>
                            </m:sub>
                          </m:sSub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1800" b="1" i="1" cap="non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𝒅𝑨</m:t>
                          </m:r>
                        </m:e>
                      </m:nary>
                    </m:oMath>
                  </m:oMathPara>
                </a14:m>
                <a:endParaRPr lang="pt-BR" sz="1800" cap="none" dirty="0"/>
              </a:p>
              <a:p>
                <a:pPr marL="0" indent="0">
                  <a:buNone/>
                </a:pPr>
                <a:r>
                  <a:rPr lang="pt-BR" sz="1800" cap="none" dirty="0" err="1"/>
                  <a:t>Considering</a:t>
                </a:r>
                <a:r>
                  <a:rPr lang="pt-BR" sz="1800" cap="none" dirty="0"/>
                  <a:t> a 2-Sphere, </a:t>
                </a:r>
                <a:r>
                  <a:rPr lang="pt-BR" sz="1800" cap="none" dirty="0" err="1"/>
                  <a:t>the</a:t>
                </a:r>
                <a:r>
                  <a:rPr lang="pt-BR" sz="1800" cap="none" dirty="0"/>
                  <a:t> Ricci </a:t>
                </a:r>
                <a:r>
                  <a:rPr lang="pt-BR" sz="1800" cap="none" dirty="0" err="1"/>
                  <a:t>scalaris</a:t>
                </a:r>
                <a14:m>
                  <m:oMath xmlns:m="http://schemas.openxmlformats.org/officeDocument/2006/math"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=2/</m:t>
                    </m:r>
                    <m:sSubSup>
                      <m:sSubSupPr>
                        <m:ctrlPr>
                          <a:rPr lang="pt-BR" sz="1800" b="0" i="1" cap="none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1800" cap="none" dirty="0"/>
                  <a:t>, </a:t>
                </a:r>
                <a:r>
                  <a:rPr lang="pt-BR" sz="1800" cap="none" dirty="0" err="1"/>
                  <a:t>since</a:t>
                </a:r>
                <a:r>
                  <a:rPr lang="pt-BR" sz="1800" cap="non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800" cap="none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pt-BR" sz="1800" i="1" cap="none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1800" i="1" cap="none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1800" i="1" cap="none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1800" cap="non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800" cap="none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pt-BR" sz="1800" i="1" cap="none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pt-BR" sz="1800" i="1" cap="none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800" i="1" cap="none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sz="1800" i="1" cap="non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1800" i="1" cap="none">
                            <a:latin typeface="Cambria Math" panose="02040503050406030204" pitchFamily="18" charset="0"/>
                          </a:rPr>
                          <m:t>𝑖𝑗</m:t>
                        </m:r>
                      </m:sup>
                    </m:sSubSup>
                    <m:r>
                      <a:rPr lang="pt-BR" sz="1800" i="1" cap="none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1800" cap="none" dirty="0"/>
                  <a:t>, </a:t>
                </a:r>
                <a:r>
                  <a:rPr lang="pt-BR" sz="1800" cap="none" dirty="0" err="1"/>
                  <a:t>and</a:t>
                </a:r>
                <a:r>
                  <a:rPr lang="pt-BR" sz="1800" cap="none" dirty="0"/>
                  <a:t> </a:t>
                </a:r>
                <a14:m>
                  <m:oMath xmlns:m="http://schemas.openxmlformats.org/officeDocument/2006/math"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pt-BR" sz="1800" cap="non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pt-BR" sz="1800" b="0" i="1" cap="non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pt-BR" sz="1800" b="0" i="1" cap="none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pt-BR" sz="1800" cap="non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1800" b="0" i="1" cap="none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𝑠𝑝ℎ</m:t>
                          </m:r>
                        </m:sup>
                      </m:sSup>
                      <m:r>
                        <a:rPr lang="pt-BR" sz="1800" i="1" cap="non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800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pt-BR" sz="1800" b="0" i="0" cap="none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f>
                        <m:fPr>
                          <m:ctrlPr>
                            <a:rPr lang="pt-BR" sz="1800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−6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func>
                                    <m:func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pt-BR" sz="1800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sz="1800" cap="none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func>
                                    <m:func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pt-BR" sz="1800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sz="1800" cap="none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func>
                                </m:den>
                              </m:f>
                              <m: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  <m:sup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den>
                                  </m:f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BR" sz="1800" i="1" cap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func>
                                        <m:func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p>
                                            <m:sSupPr>
                                              <m:ctrlPr>
                                                <a:rPr lang="pt-BR" sz="1800" cap="none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pt-BR" sz="1800" cap="none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sz="1800" i="1" cap="none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fName>
                                        <m:e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func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  <m:sup>
                                          <m: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func>
                                        <m:funcPr>
                                          <m:ctrlPr>
                                            <a:rPr lang="pt-BR" sz="1800" i="1" cap="none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p>
                                            <m:sSupPr>
                                              <m:ctrlPr>
                                                <a:rPr lang="pt-BR" sz="1800" cap="none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pt-BR" sz="1800" cap="none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sz="1800" i="1" cap="none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pt-BR" sz="1800" i="1" cap="none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800" i="1" cap="none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800" i="1" cap="none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t-BR" sz="1800" i="1" cap="non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1800" i="1" cap="none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pt-BR" sz="1800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1800" b="0" i="0" cap="none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1800" b="0" i="1" cap="none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f>
                            <m:fPr>
                              <m:ctrlPr>
                                <a:rPr lang="pt-BR" sz="1800" i="1" cap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pt-BR" sz="1800" i="1" cap="non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  <m:sSub>
                        <m:sSubPr>
                          <m:ctrlPr>
                            <a:rPr lang="pt-BR" sz="1800" cap="non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800" cap="none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1800" cap="none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d>
                        <m:dPr>
                          <m:ctrlPr>
                            <a:rPr lang="pt-BR" sz="1800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800" i="1" cap="none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pt-BR" sz="1800" cap="none" dirty="0"/>
              </a:p>
              <a:p>
                <a:pPr marL="0" indent="0">
                  <a:buNone/>
                </a:pPr>
                <a:r>
                  <a:rPr lang="en-US" sz="1800" cap="none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800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pt-BR" sz="1800" i="1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1800" i="1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pt-BR" sz="1800" i="1" cap="non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800" b="0" i="1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18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pt-BR" sz="1800" b="0" i="1" cap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cap="non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1800" b="0" i="1" cap="none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cap="none" dirty="0"/>
                  <a:t>, </a:t>
                </a:r>
                <a14:m>
                  <m:oMath xmlns:m="http://schemas.openxmlformats.org/officeDocument/2006/math">
                    <m:r>
                      <a:rPr lang="el-GR" sz="1800" b="1" cap="non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en-US" sz="1800" cap="none" dirty="0"/>
                  <a:t>, and </a:t>
                </a:r>
                <a14:m>
                  <m:oMath xmlns:m="http://schemas.openxmlformats.org/officeDocument/2006/math"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cap="none" dirty="0"/>
                  <a:t> are the surface energy in [</a:t>
                </a:r>
                <a:r>
                  <a:rPr lang="en-US" sz="1800" i="1" cap="none" dirty="0"/>
                  <a:t>J</a:t>
                </a:r>
                <a:r>
                  <a:rPr lang="en-US" sz="1800" cap="none" dirty="0"/>
                  <a:t>.</a:t>
                </a:r>
                <a:r>
                  <a:rPr lang="en-US" sz="1800" i="1" cap="none" dirty="0"/>
                  <a:t>m</a:t>
                </a:r>
                <a:r>
                  <a:rPr lang="en-US" sz="1800" cap="none" baseline="30000" dirty="0"/>
                  <a:t>-2</a:t>
                </a:r>
                <a:r>
                  <a:rPr lang="en-US" sz="1800" cap="none" dirty="0"/>
                  <a:t>], the radius at the thermodynamic state 0 (assumed as equilibrium or initial condition vector radius for Equilibrium, i.e., </a:t>
                </a:r>
                <a14:m>
                  <m:oMath xmlns:m="http://schemas.openxmlformats.org/officeDocument/2006/math">
                    <m:r>
                      <a:rPr lang="pt-BR" sz="1800" b="0" i="1" cap="none" smtClean="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pt-BR" sz="1800" b="0" i="0" cap="none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pt-BR" sz="1800" b="0" i="0" cap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800" i="1" cap="none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sz="1800" i="1" cap="none">
                        <a:latin typeface="Cambria Math" panose="02040503050406030204" pitchFamily="18" charset="0"/>
                      </a:rPr>
                      <m:t>₀</m:t>
                    </m:r>
                    <m:sSub>
                      <m:sSubPr>
                        <m:ctrlPr>
                          <a:rPr lang="pt-BR" sz="1800" i="1" cap="none">
                            <a:latin typeface="Cambria Math" panose="02040503050406030204" pitchFamily="18" charset="0"/>
                          </a:rPr>
                        </m:ctrlPr>
                      </m:sSubPr>
                      <m:e/>
                      <m:sub>
                        <m:r>
                          <a:rPr lang="pt-BR" sz="1800" i="1" cap="none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800" cap="none" dirty="0"/>
                  <a:t>) in [</a:t>
                </a:r>
                <a:r>
                  <a:rPr lang="en-US" sz="1800" i="1" cap="none" dirty="0"/>
                  <a:t>m</a:t>
                </a:r>
                <a:r>
                  <a:rPr lang="en-US" sz="1800" cap="none" dirty="0"/>
                  <a:t>], the surface stress tensor in [N.m</a:t>
                </a:r>
                <a:r>
                  <a:rPr lang="en-US" sz="1800" cap="none" baseline="30000" dirty="0"/>
                  <a:t>-1</a:t>
                </a:r>
                <a:r>
                  <a:rPr lang="en-US" sz="1800" cap="none" dirty="0"/>
                  <a:t>], and the Ricci scalar, respectively.</a:t>
                </a:r>
                <a:endParaRPr lang="pt-BR" sz="1800" b="1" cap="none" dirty="0"/>
              </a:p>
              <a:p>
                <a:pPr marL="0" indent="0">
                  <a:buNone/>
                </a:pPr>
                <a:endParaRPr lang="pt-BR" sz="1800" cap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0D9AE1F-D7AE-95F1-1894-F636BAE5B6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773723" y="2062292"/>
                <a:ext cx="10883705" cy="4625379"/>
              </a:xfrm>
              <a:blipFill>
                <a:blip r:embed="rId3"/>
                <a:stretch>
                  <a:fillRect l="-392" t="-2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5619129F-515A-7A8C-C7FA-F6E36CC64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1449448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41988-DF74-C42B-7D7B-52ACF7851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455BEE9C-4360-0783-4CA7-4A8F42C2E3C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4000" b="1" cap="none" dirty="0">
                    <a:solidFill>
                      <a:srgbClr val="FFFF00"/>
                    </a:solidFill>
                  </a:rPr>
                  <a:t>Experimental Validation, </a:t>
                </a:r>
                <a14:m>
                  <m:oMath xmlns:m="http://schemas.openxmlformats.org/officeDocument/2006/math">
                    <m:r>
                      <a:rPr lang="pt-BR" sz="4000" b="1" i="0" cap="none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𝚪</m:t>
                    </m:r>
                    <m:r>
                      <a:rPr lang="pt-BR" sz="4000" b="1" i="0" cap="none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4000" b="1" i="0" cap="none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𝐟</m:t>
                    </m:r>
                    <m:d>
                      <m:dPr>
                        <m:ctrlPr>
                          <a:rPr lang="pt-BR" sz="4000" b="1" i="0" cap="none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4000" b="1" i="0" cap="none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𝛁</m:t>
                        </m:r>
                        <m:r>
                          <a:rPr lang="pt-BR" sz="4000" b="1" i="0" cap="none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</m:d>
                  </m:oMath>
                </a14:m>
                <a:r>
                  <a:rPr lang="en-US" sz="4000" b="1" cap="none" dirty="0">
                    <a:solidFill>
                      <a:srgbClr val="FFFF00"/>
                    </a:solidFill>
                  </a:rPr>
                  <a:t>: SDAS</a:t>
                </a:r>
                <a:endParaRPr lang="pt-BR" sz="4000" b="1" cap="none" dirty="0">
                  <a:solidFill>
                    <a:srgbClr val="FFFF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455BEE9C-4360-0783-4CA7-4A8F42C2E3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m 7">
            <a:extLst>
              <a:ext uri="{FF2B5EF4-FFF2-40B4-BE49-F238E27FC236}">
                <a16:creationId xmlns:a16="http://schemas.microsoft.com/office/drawing/2014/main" id="{F9BF4E41-8BD4-84F5-6978-37F35D00F3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86"/>
          <a:stretch>
            <a:fillRect/>
          </a:stretch>
        </p:blipFill>
        <p:spPr>
          <a:xfrm>
            <a:off x="2792472" y="1978925"/>
            <a:ext cx="6607056" cy="4495217"/>
          </a:xfrm>
          <a:prstGeom prst="rect">
            <a:avLst/>
          </a:prstGeom>
        </p:spPr>
      </p:pic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EA1F494-0B66-5730-90E6-3E31119244E9}"/>
              </a:ext>
            </a:extLst>
          </p:cNvPr>
          <p:cNvCxnSpPr/>
          <p:nvPr/>
        </p:nvCxnSpPr>
        <p:spPr>
          <a:xfrm>
            <a:off x="3593910" y="4226533"/>
            <a:ext cx="2743200" cy="0"/>
          </a:xfrm>
          <a:prstGeom prst="straightConnector1">
            <a:avLst/>
          </a:prstGeom>
          <a:ln w="38100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16B66AB-B06C-182A-5B92-0E7363FDFF74}"/>
              </a:ext>
            </a:extLst>
          </p:cNvPr>
          <p:cNvSpPr txBox="1"/>
          <p:nvPr/>
        </p:nvSpPr>
        <p:spPr>
          <a:xfrm>
            <a:off x="4412777" y="3871417"/>
            <a:ext cx="864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FF00"/>
                </a:solidFill>
              </a:rPr>
              <a:t>PDAS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A500CFA2-4770-CA72-10A5-41CA1B1BB417}"/>
              </a:ext>
            </a:extLst>
          </p:cNvPr>
          <p:cNvCxnSpPr>
            <a:cxnSpLocks/>
          </p:cNvCxnSpPr>
          <p:nvPr/>
        </p:nvCxnSpPr>
        <p:spPr>
          <a:xfrm>
            <a:off x="3195851" y="3220873"/>
            <a:ext cx="0" cy="454924"/>
          </a:xfrm>
          <a:prstGeom prst="straightConnector1">
            <a:avLst/>
          </a:prstGeom>
          <a:ln w="38100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2ED137B-583B-CBBB-5328-D49865BE9F7C}"/>
              </a:ext>
            </a:extLst>
          </p:cNvPr>
          <p:cNvSpPr txBox="1"/>
          <p:nvPr/>
        </p:nvSpPr>
        <p:spPr>
          <a:xfrm>
            <a:off x="3236795" y="3263669"/>
            <a:ext cx="864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FF00"/>
                </a:solidFill>
              </a:rPr>
              <a:t>SDAS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5C00486-2C2E-54C3-B708-B483BA31075C}"/>
              </a:ext>
            </a:extLst>
          </p:cNvPr>
          <p:cNvSpPr/>
          <p:nvPr/>
        </p:nvSpPr>
        <p:spPr>
          <a:xfrm>
            <a:off x="2984310" y="3116239"/>
            <a:ext cx="1116843" cy="60504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A803AD-FD12-861C-D3C8-90A838C3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614010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EAB94-CDE5-40AB-A970-E2D5454CB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A60B8C-6496-3D68-A22C-C814F15E7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1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DFE123F-6A5D-DCF1-121B-6AE3E853D72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74" y="2062292"/>
                <a:ext cx="10889020" cy="4625379"/>
              </a:xfrm>
            </p:spPr>
            <p:txBody>
              <a:bodyPr>
                <a:normAutofit/>
              </a:bodyPr>
              <a:lstStyle/>
              <a:p>
                <a:r>
                  <a:rPr lang="pt-BR" sz="1800" b="1" cap="none" dirty="0">
                    <a:solidFill>
                      <a:srgbClr val="FFFF00"/>
                    </a:solidFill>
                  </a:rPr>
                  <a:t>Experimental </a:t>
                </a:r>
                <a:r>
                  <a:rPr lang="pt-BR" sz="1800" b="1" cap="none" dirty="0" err="1">
                    <a:solidFill>
                      <a:srgbClr val="FFFF00"/>
                    </a:solidFill>
                  </a:rPr>
                  <a:t>validation</a:t>
                </a:r>
                <a:r>
                  <a:rPr lang="pt-BR" sz="1800" b="1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sz="1800" cap="none" dirty="0"/>
                  <a:t>[Ferreira et al. (2025)]:</a:t>
                </a:r>
              </a:p>
              <a:p>
                <a:pPr marL="0" indent="0">
                  <a:buNone/>
                </a:pPr>
                <a:endParaRPr lang="en-US" sz="1800" cap="none" dirty="0"/>
              </a:p>
              <a:p>
                <a:pPr marL="0" indent="0">
                  <a:buNone/>
                </a:pPr>
                <a:r>
                  <a:rPr lang="en-US" sz="1800" cap="none" dirty="0"/>
                  <a:t>SDAS can be calculated in terms of Gibbs-Thomson which is the Thermal Field Tensor </a:t>
                </a:r>
                <a14:m>
                  <m:oMath xmlns:m="http://schemas.openxmlformats.org/officeDocument/2006/math">
                    <m:r>
                      <a:rPr lang="el-GR" sz="1800" b="1" i="0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en-US" sz="1800" cap="none" dirty="0"/>
                  <a:t> as,</a:t>
                </a:r>
              </a:p>
              <a:p>
                <a:pPr marL="0" indent="0">
                  <a:buNone/>
                </a:pPr>
                <a:endParaRPr lang="en-US" sz="1800" cap="none" dirty="0"/>
              </a:p>
              <a:p>
                <a:pPr marL="0" indent="0">
                  <a:buNone/>
                </a:pPr>
                <a:endParaRPr lang="en-US" sz="1800" cap="none" dirty="0"/>
              </a:p>
              <a:p>
                <a:pPr marL="0" indent="0">
                  <a:buNone/>
                </a:pPr>
                <a:endParaRPr lang="pt-BR" sz="1800" cap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98CA059-4C53-428D-F6FD-6E0032A811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74" y="2062292"/>
                <a:ext cx="10889020" cy="4625379"/>
              </a:xfrm>
              <a:blipFill>
                <a:blip r:embed="rId3"/>
                <a:stretch>
                  <a:fillRect l="-616" t="-2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C8B1BA6A-3274-91E6-5DA7-CEC51C086852}"/>
                  </a:ext>
                </a:extLst>
              </p:cNvPr>
              <p:cNvSpPr txBox="1"/>
              <p:nvPr/>
            </p:nvSpPr>
            <p:spPr>
              <a:xfrm>
                <a:off x="909708" y="3685043"/>
                <a:ext cx="2457157" cy="5188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𝑆𝐷𝐴𝑆</m:t>
                    </m:r>
                    <m:r>
                      <a:rPr lang="en-GB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=5.5 </m:t>
                    </m:r>
                    <m:sSup>
                      <m:sSup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GB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GB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𝑆𝐿</m:t>
                                </m:r>
                              </m:sub>
                            </m:sSub>
                          </m:e>
                        </m:d>
                      </m:e>
                      <m:sup>
                        <m:box>
                          <m:boxPr>
                            <m:ctrlP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GB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box>
                      </m:sup>
                    </m:sSup>
                  </m:oMath>
                </a14:m>
                <a:r>
                  <a:rPr lang="en-GB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59299BF-67E5-7D9E-7751-EF692C082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8" y="3685043"/>
                <a:ext cx="2457157" cy="5188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78C2FB98-1A06-3BBB-3673-23C455AF5480}"/>
                  </a:ext>
                </a:extLst>
              </p:cNvPr>
              <p:cNvSpPr txBox="1"/>
              <p:nvPr/>
            </p:nvSpPr>
            <p:spPr>
              <a:xfrm>
                <a:off x="750273" y="4374981"/>
                <a:ext cx="9223717" cy="1536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140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1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𝚪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14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pt-BR" sz="14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14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type m:val="lin"/>
                                  <m:ctrlP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1400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400" i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f>
                                        <m:fPr>
                                          <m:ctrlP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pt-BR" sz="1400" i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d>
                                            <m:dPr>
                                              <m:ctrlP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BR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BR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func>
                                            <m:func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𝑒𝑥𝑝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pt-BR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f>
                                                    <m:fPr>
                                                      <m:ctrlP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𝜈</m:t>
                                                      </m:r>
                                                      <m: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𝛿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</m:sub>
                                                      </m:sSub>
                                                    </m:num>
                                                    <m:den>
                                                      <m:sSub>
                                                        <m:sSubPr>
                                                          <m:ctrlP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𝐷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</m:sub>
                                                      </m:sSub>
                                                    </m:den>
                                                  </m:f>
                                                </m:e>
                                              </m:d>
                                            </m:e>
                                          </m:func>
                                        </m:den>
                                      </m:f>
                                    </m:e>
                                  </m:d>
                                  <m:d>
                                    <m:dPr>
                                      <m:ctrlP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pt-BR" sz="1400" i="0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pt-BR" sz="14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pt-BR" sz="1400" i="0">
                                              <a:latin typeface="Cambria Math" panose="02040503050406030204" pitchFamily="18" charset="0"/>
                                            </a:rPr>
                                            <m:t>0, </m:t>
                                          </m:r>
                                          <m: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den>
                      </m:f>
                      <m:func>
                        <m:func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𝑙𝑛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pt-BR" sz="1400" i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pt-BR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sSub>
                                                    <m:sSubPr>
                                                      <m:ctrlP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sub>
                                                  </m:sSub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pt-BR" sz="1400" i="0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  <m:func>
                                                    <m:funcPr>
                                                      <m:ctrlP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uncPr>
                                                    <m:fName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𝑒𝑥𝑝</m:t>
                                                      </m:r>
                                                    </m:fName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f>
                                                            <m:fPr>
                                                              <m:ctrlPr>
                                                                <a:rPr lang="pt-BR" sz="1400" i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fPr>
                                                            <m:num>
                                                              <m:r>
                                                                <a:rPr lang="pt-BR" sz="1400" i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r>
                                                                <a:rPr lang="pt-BR" sz="14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𝜈</m:t>
                                                              </m:r>
                                                              <m:r>
                                                                <a:rPr lang="pt-BR" sz="1400" i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 </m:t>
                                                              </m:r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𝛿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num>
                                                            <m:den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𝐷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den>
                                                          </m:f>
                                                        </m:e>
                                                      </m:d>
                                                    </m:e>
                                                  </m:func>
                                                </m:den>
                                              </m:f>
                                            </m:e>
                                          </m:d>
                                          <m:sSub>
                                            <m:sSub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  <m: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  <m:t>, </m:t>
                                              </m:r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nary>
                                </m:num>
                                <m:den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pt-BR" sz="1400" i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pt-BR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sSub>
                                                    <m:sSubPr>
                                                      <m:ctrlP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sub>
                                                  </m:sSub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pt-BR" sz="1400" i="0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  <m:func>
                                                    <m:funcPr>
                                                      <m:ctrlP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uncPr>
                                                    <m:fName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𝑒𝑥𝑝</m:t>
                                                      </m:r>
                                                    </m:fName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f>
                                                            <m:fPr>
                                                              <m:ctrlPr>
                                                                <a:rPr lang="pt-BR" sz="1400" i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fPr>
                                                            <m:num>
                                                              <m:r>
                                                                <a:rPr lang="pt-BR" sz="1400" i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r>
                                                                <a:rPr lang="pt-BR" sz="14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𝜈</m:t>
                                                              </m:r>
                                                              <m:r>
                                                                <a:rPr lang="pt-BR" sz="1400" i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 </m:t>
                                                              </m:r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𝛿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num>
                                                            <m:den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𝐷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den>
                                                          </m:f>
                                                        </m:e>
                                                      </m:d>
                                                    </m:e>
                                                  </m:func>
                                                </m:den>
                                              </m:f>
                                            </m:e>
                                          </m:d>
                                          <m:sSub>
                                            <m:sSub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  <m:t>0, </m:t>
                                              </m:r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nary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78C2FB98-1A06-3BBB-3673-23C455AF5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3" y="4374981"/>
                <a:ext cx="9223717" cy="15363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24EC5DDF-FD49-3EC5-0EE2-CA8EA8482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3869745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6E3E1-19C8-3244-3202-1619E0CB2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975B2-5DA9-343C-96BB-D286A41E1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1</a:t>
            </a:r>
            <a:endParaRPr lang="pt-BR" sz="4000" b="1" cap="none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8BF3FA-F228-7C8C-270F-F912D8B616E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62292"/>
            <a:ext cx="6213857" cy="4625379"/>
          </a:xfrm>
        </p:spPr>
        <p:txBody>
          <a:bodyPr>
            <a:normAutofit/>
          </a:bodyPr>
          <a:lstStyle/>
          <a:p>
            <a:r>
              <a:rPr lang="pt-BR" sz="1800" b="1" cap="none" dirty="0">
                <a:solidFill>
                  <a:srgbClr val="FFFF00"/>
                </a:solidFill>
              </a:rPr>
              <a:t>Experimental </a:t>
            </a:r>
            <a:r>
              <a:rPr lang="pt-BR" sz="1800" b="1" cap="none" dirty="0" err="1">
                <a:solidFill>
                  <a:srgbClr val="FFFF00"/>
                </a:solidFill>
              </a:rPr>
              <a:t>validation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cap="none" dirty="0"/>
              <a:t>[Mendes et al. (2023)]:</a:t>
            </a:r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r>
              <a:rPr lang="en-GB" sz="1800" b="1" cap="none" dirty="0"/>
              <a:t>Figure 1 </a:t>
            </a:r>
            <a:r>
              <a:rPr lang="en-US" sz="1800" cap="none" dirty="0"/>
              <a:t>Schematic representation of transient horizontal solidification experiment.</a:t>
            </a:r>
            <a:endParaRPr lang="pt-BR" sz="1800" cap="none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C3DADFF-F3F3-592F-2F18-980BF2E28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649" y="1776545"/>
            <a:ext cx="3718605" cy="5012033"/>
          </a:xfrm>
          <a:prstGeom prst="rect">
            <a:avLst/>
          </a:prstGeom>
        </p:spPr>
      </p:pic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393FF338-A103-828D-C8FF-441390C7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591265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476F8-0AFA-CC0B-CB0C-20D4BA875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D8376E-38BE-8CFF-69BD-9A2DDC8DE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1</a:t>
            </a:r>
            <a:endParaRPr lang="pt-BR" sz="4000" b="1" cap="none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FD45A2-B1A6-0FF3-A74E-8827E3F8FB0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62292"/>
            <a:ext cx="5041549" cy="4625379"/>
          </a:xfrm>
        </p:spPr>
        <p:txBody>
          <a:bodyPr>
            <a:normAutofit/>
          </a:bodyPr>
          <a:lstStyle/>
          <a:p>
            <a:r>
              <a:rPr lang="pt-BR" sz="1800" b="1" cap="none" dirty="0">
                <a:solidFill>
                  <a:srgbClr val="FFFF00"/>
                </a:solidFill>
              </a:rPr>
              <a:t>Experimental </a:t>
            </a:r>
            <a:r>
              <a:rPr lang="pt-BR" sz="1800" b="1" cap="none" dirty="0" err="1">
                <a:solidFill>
                  <a:srgbClr val="FFFF00"/>
                </a:solidFill>
              </a:rPr>
              <a:t>validation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cap="none" dirty="0"/>
              <a:t>[Mendes et al. (2023)]:</a:t>
            </a:r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r>
              <a:rPr lang="en-GB" sz="1800" b="1" cap="none" dirty="0"/>
              <a:t>Figure 2</a:t>
            </a:r>
            <a:r>
              <a:rPr lang="en-GB" sz="1800" cap="none" dirty="0"/>
              <a:t>  Experimental data from transient solidification measurements yielded </a:t>
            </a:r>
            <a:r>
              <a:rPr lang="en-GB" sz="1800" b="1" cap="none" dirty="0">
                <a:solidFill>
                  <a:srgbClr val="FFFF00"/>
                </a:solidFill>
              </a:rPr>
              <a:t>(A) dendrite tip growth rates</a:t>
            </a:r>
            <a:r>
              <a:rPr lang="en-GB" sz="1800" cap="none" dirty="0"/>
              <a:t>, (B) liquidus thermal gradients, and (C) dendrite tip cooling rates.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21DFCC0-761D-5192-7463-1C469723CCB8}"/>
              </a:ext>
            </a:extLst>
          </p:cNvPr>
          <p:cNvSpPr txBox="1"/>
          <p:nvPr/>
        </p:nvSpPr>
        <p:spPr>
          <a:xfrm>
            <a:off x="8947053" y="5735492"/>
            <a:ext cx="633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cap="none" dirty="0"/>
              <a:t>( A )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F85513D-91AA-72F8-2378-A3A8AF91C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026" y="2555715"/>
            <a:ext cx="6205636" cy="3374315"/>
          </a:xfrm>
          <a:prstGeom prst="rect">
            <a:avLst/>
          </a:prstGeom>
        </p:spPr>
      </p:pic>
      <p:sp>
        <p:nvSpPr>
          <p:cNvPr id="9" name="Espaço Reservado para Rodapé 4">
            <a:extLst>
              <a:ext uri="{FF2B5EF4-FFF2-40B4-BE49-F238E27FC236}">
                <a16:creationId xmlns:a16="http://schemas.microsoft.com/office/drawing/2014/main" id="{CB1D7A77-5732-6DEE-8099-CBA728F5F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697517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B2FF5-CE72-A638-DA57-9A64DADD5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DD513-3FDE-0CD2-F839-91BD06F5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1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0B5BBA3-AD90-B779-BC47-2947B92139F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74" y="2062292"/>
                <a:ext cx="5041549" cy="4625379"/>
              </a:xfrm>
            </p:spPr>
            <p:txBody>
              <a:bodyPr>
                <a:normAutofit/>
              </a:bodyPr>
              <a:lstStyle/>
              <a:p>
                <a:r>
                  <a:rPr lang="pt-BR" sz="1800" b="1" cap="none" dirty="0">
                    <a:solidFill>
                      <a:srgbClr val="FFFF00"/>
                    </a:solidFill>
                  </a:rPr>
                  <a:t>Experimental </a:t>
                </a:r>
                <a:r>
                  <a:rPr lang="pt-BR" sz="1800" b="1" cap="none" dirty="0" err="1">
                    <a:solidFill>
                      <a:srgbClr val="FFFF00"/>
                    </a:solidFill>
                  </a:rPr>
                  <a:t>validation</a:t>
                </a:r>
                <a:r>
                  <a:rPr lang="pt-BR" sz="1800" b="1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sz="1800" cap="none" dirty="0"/>
                  <a:t>[Mendes et al. (2023)]:</a:t>
                </a:r>
              </a:p>
              <a:p>
                <a:pPr marL="0" indent="0">
                  <a:buNone/>
                </a:pPr>
                <a:endParaRPr lang="pt-BR" sz="1800" cap="none" dirty="0"/>
              </a:p>
              <a:p>
                <a:pPr marL="0" indent="0">
                  <a:buNone/>
                </a:pPr>
                <a:endParaRPr lang="pt-BR" sz="1800" cap="none" dirty="0"/>
              </a:p>
              <a:p>
                <a:pPr marL="0" indent="0">
                  <a:buNone/>
                </a:pPr>
                <a:r>
                  <a:rPr lang="en-GB" sz="1800" b="1" cap="none" dirty="0"/>
                  <a:t>Figure 3</a:t>
                </a:r>
                <a:r>
                  <a:rPr lang="en-GB" sz="1800" cap="none" dirty="0"/>
                  <a:t>  Experimental data from transient solidification measurements yielded (A) dendrite tip growth rates, </a:t>
                </a:r>
                <a:r>
                  <a:rPr lang="en-GB" sz="1800" b="1" cap="none" dirty="0">
                    <a:solidFill>
                      <a:srgbClr val="FFFF00"/>
                    </a:solidFill>
                  </a:rPr>
                  <a:t>(B) liquidus thermal gradients</a:t>
                </a:r>
                <a:r>
                  <a:rPr lang="en-GB" sz="1800" cap="none" dirty="0"/>
                  <a:t>, and (C) dendrite tip cooling rates.</a:t>
                </a:r>
              </a:p>
              <a:p>
                <a:pPr marL="0" indent="0">
                  <a:buNone/>
                </a:pPr>
                <a:endParaRPr lang="en-GB" sz="1800" cap="non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pt-BR" b="0" i="0" cap="none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pt-BR" b="1" i="0" cap="none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pt-BR" b="0" i="1" cap="none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=3294 </m:t>
                      </m:r>
                      <m:r>
                        <a:rPr lang="pt-BR" b="0" i="1" cap="none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pt-BR" b="0" i="1" cap="none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b="0" i="1" cap="none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pt-BR" cap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0B5BBA3-AD90-B779-BC47-2947B9213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74" y="2062292"/>
                <a:ext cx="5041549" cy="4625379"/>
              </a:xfrm>
              <a:blipFill>
                <a:blip r:embed="rId3"/>
                <a:stretch>
                  <a:fillRect l="-1330" t="-264" r="-22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25038E3F-3696-84B5-2091-4B049B86BBD4}"/>
              </a:ext>
            </a:extLst>
          </p:cNvPr>
          <p:cNvSpPr txBox="1"/>
          <p:nvPr/>
        </p:nvSpPr>
        <p:spPr>
          <a:xfrm>
            <a:off x="8947053" y="5735492"/>
            <a:ext cx="633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cap="none" dirty="0"/>
              <a:t>( B )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44346E5-C6E9-7FB1-6166-34D8073F2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972" y="2419910"/>
            <a:ext cx="6097622" cy="3315582"/>
          </a:xfrm>
          <a:prstGeom prst="rect">
            <a:avLst/>
          </a:prstGeom>
        </p:spPr>
      </p:pic>
      <p:sp>
        <p:nvSpPr>
          <p:cNvPr id="9" name="Espaço Reservado para Rodapé 4">
            <a:extLst>
              <a:ext uri="{FF2B5EF4-FFF2-40B4-BE49-F238E27FC236}">
                <a16:creationId xmlns:a16="http://schemas.microsoft.com/office/drawing/2014/main" id="{462515BA-B041-13F2-8C89-F7388C938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3825701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BC921-9B9C-778D-38E2-8DAED4360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A0624-0CD8-676A-208E-C5E92CC5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1</a:t>
            </a:r>
            <a:endParaRPr lang="pt-BR" sz="4000" b="1" cap="none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3BB404-B3BE-1804-DAC5-7AE0E5E001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62292"/>
            <a:ext cx="5041549" cy="4625379"/>
          </a:xfrm>
        </p:spPr>
        <p:txBody>
          <a:bodyPr>
            <a:normAutofit/>
          </a:bodyPr>
          <a:lstStyle/>
          <a:p>
            <a:r>
              <a:rPr lang="pt-BR" sz="1800" b="1" cap="none" dirty="0">
                <a:solidFill>
                  <a:srgbClr val="FFFF00"/>
                </a:solidFill>
              </a:rPr>
              <a:t>Experimental </a:t>
            </a:r>
            <a:r>
              <a:rPr lang="pt-BR" sz="1800" b="1" cap="none" dirty="0" err="1">
                <a:solidFill>
                  <a:srgbClr val="FFFF00"/>
                </a:solidFill>
              </a:rPr>
              <a:t>validation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cap="none" dirty="0"/>
              <a:t>[Mendes et al. (2023)]:</a:t>
            </a:r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r>
              <a:rPr lang="en-GB" sz="1800" b="1" cap="none" dirty="0"/>
              <a:t>Figure 4</a:t>
            </a:r>
            <a:r>
              <a:rPr lang="en-GB" sz="1800" cap="none" dirty="0"/>
              <a:t>  Experimental data from transient solidification measurements yielded (A) dendrite tip growth rates, (B) liquidus thermal gradients, and </a:t>
            </a:r>
            <a:r>
              <a:rPr lang="en-GB" sz="1800" b="1" cap="none" dirty="0">
                <a:solidFill>
                  <a:srgbClr val="FFFF00"/>
                </a:solidFill>
              </a:rPr>
              <a:t>(C) dendrite tip cooling rates</a:t>
            </a:r>
            <a:r>
              <a:rPr lang="en-GB" sz="1800" cap="none" dirty="0"/>
              <a:t>.</a:t>
            </a:r>
            <a:endParaRPr lang="pt-BR" sz="1800" cap="none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E2D5EBC-09B3-B7A5-65F5-181A9D6D92A7}"/>
              </a:ext>
            </a:extLst>
          </p:cNvPr>
          <p:cNvSpPr txBox="1"/>
          <p:nvPr/>
        </p:nvSpPr>
        <p:spPr>
          <a:xfrm>
            <a:off x="8947053" y="5735492"/>
            <a:ext cx="633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cap="none" dirty="0"/>
              <a:t>( C )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1FFC9E-6F48-8E7B-EADE-155E6A652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166" y="2363373"/>
            <a:ext cx="6063615" cy="3297091"/>
          </a:xfrm>
          <a:prstGeom prst="rect">
            <a:avLst/>
          </a:prstGeom>
        </p:spPr>
      </p:pic>
      <p:sp>
        <p:nvSpPr>
          <p:cNvPr id="9" name="Espaço Reservado para Rodapé 4">
            <a:extLst>
              <a:ext uri="{FF2B5EF4-FFF2-40B4-BE49-F238E27FC236}">
                <a16:creationId xmlns:a16="http://schemas.microsoft.com/office/drawing/2014/main" id="{1E033DD5-0D2D-D605-584E-3DCC40D56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881900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A991B-CB13-4089-5C0C-6605B2C8F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D7D5A-57B4-65BB-7CFA-ACDCBA20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1</a:t>
            </a:r>
            <a:endParaRPr lang="pt-BR" sz="4000" b="1" cap="none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0D3A17-9968-EC07-EC65-71AB6270F2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62292"/>
            <a:ext cx="10987494" cy="4625379"/>
          </a:xfrm>
        </p:spPr>
        <p:txBody>
          <a:bodyPr>
            <a:normAutofit/>
          </a:bodyPr>
          <a:lstStyle/>
          <a:p>
            <a:r>
              <a:rPr lang="pt-BR" sz="1800" b="1" cap="none" dirty="0" err="1">
                <a:solidFill>
                  <a:srgbClr val="FFFF00"/>
                </a:solidFill>
              </a:rPr>
              <a:t>Results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b="1" cap="none" dirty="0" err="1">
                <a:solidFill>
                  <a:srgbClr val="FFFF00"/>
                </a:solidFill>
              </a:rPr>
              <a:t>of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b="1" cap="none" dirty="0" err="1">
                <a:solidFill>
                  <a:srgbClr val="FFFF00"/>
                </a:solidFill>
              </a:rPr>
              <a:t>Nucleation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b="1" cap="none" dirty="0" err="1">
                <a:solidFill>
                  <a:srgbClr val="FFFF00"/>
                </a:solidFill>
              </a:rPr>
              <a:t>Calculation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cap="none" dirty="0"/>
              <a:t>[</a:t>
            </a:r>
            <a:r>
              <a:rPr lang="pt-BR" sz="1800" cap="none" dirty="0" err="1"/>
              <a:t>Present</a:t>
            </a:r>
            <a:r>
              <a:rPr lang="pt-BR" sz="1800" cap="none" dirty="0"/>
              <a:t> </a:t>
            </a:r>
            <a:r>
              <a:rPr lang="pt-BR" sz="1800" cap="none" dirty="0" err="1"/>
              <a:t>work</a:t>
            </a:r>
            <a:r>
              <a:rPr lang="pt-BR" sz="1800" cap="none" dirty="0"/>
              <a:t>]:</a:t>
            </a:r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409916F-78FA-0809-1FC8-036C9C6E8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09" y="2558217"/>
            <a:ext cx="10329691" cy="3899628"/>
          </a:xfrm>
          <a:prstGeom prst="rect">
            <a:avLst/>
          </a:prstGeom>
        </p:spPr>
      </p:pic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FF9AF97B-E6A6-9C32-8AF6-D3E84B611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2844494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29DC9-CE86-A8F5-D0B5-772A4F90D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6CE20B-9E03-7B85-4EDA-6612DC7E5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1</a:t>
            </a:r>
            <a:endParaRPr lang="pt-BR" sz="4000" b="1" cap="none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222A89-2FB0-5F18-0206-6B7C8B449D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62292"/>
            <a:ext cx="10987494" cy="4625379"/>
          </a:xfrm>
        </p:spPr>
        <p:txBody>
          <a:bodyPr>
            <a:normAutofit/>
          </a:bodyPr>
          <a:lstStyle/>
          <a:p>
            <a:r>
              <a:rPr lang="pt-BR" sz="1800" b="1" cap="none" dirty="0" err="1">
                <a:solidFill>
                  <a:srgbClr val="FFFF00"/>
                </a:solidFill>
              </a:rPr>
              <a:t>Results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b="1" cap="none" dirty="0" err="1">
                <a:solidFill>
                  <a:srgbClr val="FFFF00"/>
                </a:solidFill>
              </a:rPr>
              <a:t>of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b="1" cap="none" dirty="0" err="1">
                <a:solidFill>
                  <a:srgbClr val="FFFF00"/>
                </a:solidFill>
              </a:rPr>
              <a:t>Nucleation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b="1" cap="none" dirty="0" err="1">
                <a:solidFill>
                  <a:srgbClr val="FFFF00"/>
                </a:solidFill>
              </a:rPr>
              <a:t>Calculation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cap="none" dirty="0"/>
              <a:t>[</a:t>
            </a:r>
            <a:r>
              <a:rPr lang="pt-BR" sz="1800" cap="none" dirty="0" err="1"/>
              <a:t>Present</a:t>
            </a:r>
            <a:r>
              <a:rPr lang="pt-BR" sz="1800" cap="none" dirty="0"/>
              <a:t> </a:t>
            </a:r>
            <a:r>
              <a:rPr lang="pt-BR" sz="1800" cap="none" dirty="0" err="1"/>
              <a:t>work</a:t>
            </a:r>
            <a:r>
              <a:rPr lang="pt-BR" sz="1800" cap="none" dirty="0"/>
              <a:t>]:</a:t>
            </a:r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5926B53-0F22-F34B-62EF-C46891695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327" y="2544745"/>
            <a:ext cx="10275455" cy="3812875"/>
          </a:xfrm>
          <a:prstGeom prst="rect">
            <a:avLst/>
          </a:prstGeom>
        </p:spPr>
      </p:pic>
      <p:sp>
        <p:nvSpPr>
          <p:cNvPr id="10" name="Espaço Reservado para Rodapé 4">
            <a:extLst>
              <a:ext uri="{FF2B5EF4-FFF2-40B4-BE49-F238E27FC236}">
                <a16:creationId xmlns:a16="http://schemas.microsoft.com/office/drawing/2014/main" id="{A6C07E3B-7797-8B9C-E1E2-A0C48A33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727394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05192-C692-7E59-0551-62B4157F8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D073AB-F4A1-A66B-2311-D166A5A0A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1</a:t>
            </a:r>
            <a:endParaRPr lang="pt-BR" sz="4000" b="1" cap="none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23A971-DEE2-54A9-04D3-D123B834BD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62292"/>
            <a:ext cx="5041549" cy="4625379"/>
          </a:xfrm>
        </p:spPr>
        <p:txBody>
          <a:bodyPr>
            <a:normAutofit/>
          </a:bodyPr>
          <a:lstStyle/>
          <a:p>
            <a:r>
              <a:rPr lang="pt-BR" sz="1800" b="1" cap="none" dirty="0">
                <a:solidFill>
                  <a:srgbClr val="FFFF00"/>
                </a:solidFill>
              </a:rPr>
              <a:t>Experimental </a:t>
            </a:r>
            <a:r>
              <a:rPr lang="pt-BR" sz="1800" b="1" cap="none" dirty="0" err="1">
                <a:solidFill>
                  <a:srgbClr val="FFFF00"/>
                </a:solidFill>
              </a:rPr>
              <a:t>validation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cap="none" dirty="0"/>
              <a:t>[</a:t>
            </a:r>
            <a:r>
              <a:rPr lang="pt-BR" sz="1800" cap="none" dirty="0" err="1"/>
              <a:t>Present</a:t>
            </a:r>
            <a:r>
              <a:rPr lang="pt-BR" sz="1800" cap="none" dirty="0"/>
              <a:t> </a:t>
            </a:r>
            <a:r>
              <a:rPr lang="pt-BR" sz="1800" cap="none" dirty="0" err="1"/>
              <a:t>work</a:t>
            </a:r>
            <a:r>
              <a:rPr lang="pt-BR" sz="1800" cap="none" dirty="0"/>
              <a:t>]:</a:t>
            </a:r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r>
              <a:rPr lang="en-GB" sz="1800" b="1" cap="none" dirty="0"/>
              <a:t>Figure 5</a:t>
            </a:r>
            <a:r>
              <a:rPr lang="en-GB" sz="1800" cap="none" dirty="0"/>
              <a:t> </a:t>
            </a:r>
            <a:r>
              <a:rPr lang="en-US" sz="1800" cap="none" dirty="0"/>
              <a:t>Thermal field tensor (Gibbs-Thomson) function of thermal gradient.</a:t>
            </a:r>
            <a:endParaRPr lang="pt-BR" sz="1800" cap="none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6CA8AE9-D51E-70D3-4C5F-C791CEEAF359}"/>
              </a:ext>
            </a:extLst>
          </p:cNvPr>
          <p:cNvSpPr txBox="1"/>
          <p:nvPr/>
        </p:nvSpPr>
        <p:spPr>
          <a:xfrm>
            <a:off x="8947053" y="5735492"/>
            <a:ext cx="633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cap="none" dirty="0"/>
              <a:t>( A )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E971270-5FD2-499C-3452-F79472836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73" y="4374981"/>
            <a:ext cx="4472557" cy="18355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9B3D9B4-A406-E14D-7E5D-DB2642A42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972" y="2710988"/>
            <a:ext cx="6435871" cy="3499505"/>
          </a:xfrm>
          <a:prstGeom prst="rect">
            <a:avLst/>
          </a:prstGeom>
        </p:spPr>
      </p:pic>
      <p:sp>
        <p:nvSpPr>
          <p:cNvPr id="12" name="Espaço Reservado para Rodapé 4">
            <a:extLst>
              <a:ext uri="{FF2B5EF4-FFF2-40B4-BE49-F238E27FC236}">
                <a16:creationId xmlns:a16="http://schemas.microsoft.com/office/drawing/2014/main" id="{0B5A54F2-1362-1CB2-BDCF-6F4013687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2720001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D7123-5DC9-228F-4070-702CEEEDC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888E6-F8AB-07F9-2BB1-B5DC712A9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1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5CF7494-6E7A-969A-AEB8-BB877682F4B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74" y="2062292"/>
                <a:ext cx="10889020" cy="4625379"/>
              </a:xfrm>
            </p:spPr>
            <p:txBody>
              <a:bodyPr>
                <a:normAutofit/>
              </a:bodyPr>
              <a:lstStyle/>
              <a:p>
                <a:r>
                  <a:rPr lang="pt-BR" sz="1800" b="1" cap="none" dirty="0">
                    <a:solidFill>
                      <a:srgbClr val="FFFF00"/>
                    </a:solidFill>
                  </a:rPr>
                  <a:t>Experimental </a:t>
                </a:r>
                <a:r>
                  <a:rPr lang="pt-BR" sz="1800" b="1" cap="none" dirty="0" err="1">
                    <a:solidFill>
                      <a:srgbClr val="FFFF00"/>
                    </a:solidFill>
                  </a:rPr>
                  <a:t>validation</a:t>
                </a:r>
                <a:r>
                  <a:rPr lang="pt-BR" sz="1800" b="1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sz="1800" cap="none" dirty="0"/>
                  <a:t>[Ferreira et al. (2025)]:</a:t>
                </a:r>
              </a:p>
              <a:p>
                <a:pPr marL="0" indent="0">
                  <a:buNone/>
                </a:pPr>
                <a:endParaRPr lang="en-US" sz="1800" cap="none" dirty="0"/>
              </a:p>
              <a:p>
                <a:pPr marL="0" indent="0">
                  <a:buNone/>
                </a:pPr>
                <a:r>
                  <a:rPr lang="en-US" sz="1800" cap="none" dirty="0"/>
                  <a:t>SDAS can be calculated in terms of Gibbs-Thomson which is the Thermal Field Tensor </a:t>
                </a:r>
                <a14:m>
                  <m:oMath xmlns:m="http://schemas.openxmlformats.org/officeDocument/2006/math">
                    <m:r>
                      <a:rPr lang="el-GR" sz="1800" b="1" i="0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en-US" sz="1800" cap="none" dirty="0"/>
                  <a:t> as,</a:t>
                </a:r>
              </a:p>
              <a:p>
                <a:pPr marL="0" indent="0">
                  <a:buNone/>
                </a:pPr>
                <a:endParaRPr lang="en-US" sz="1800" cap="none" dirty="0"/>
              </a:p>
              <a:p>
                <a:pPr marL="0" indent="0">
                  <a:buNone/>
                </a:pPr>
                <a:endParaRPr lang="en-US" sz="1800" cap="none" dirty="0"/>
              </a:p>
              <a:p>
                <a:pPr marL="0" indent="0">
                  <a:buNone/>
                </a:pPr>
                <a:endParaRPr lang="pt-BR" sz="1800" cap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98CA059-4C53-428D-F6FD-6E0032A811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74" y="2062292"/>
                <a:ext cx="10889020" cy="4625379"/>
              </a:xfrm>
              <a:blipFill>
                <a:blip r:embed="rId3"/>
                <a:stretch>
                  <a:fillRect l="-616" t="-2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2A02D3B-9FDE-0A39-94D0-144324DF1DC2}"/>
                  </a:ext>
                </a:extLst>
              </p:cNvPr>
              <p:cNvSpPr txBox="1"/>
              <p:nvPr/>
            </p:nvSpPr>
            <p:spPr>
              <a:xfrm>
                <a:off x="909708" y="3685043"/>
                <a:ext cx="2457157" cy="5188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𝑆𝐷𝐴𝑆</m:t>
                    </m:r>
                    <m:r>
                      <a:rPr lang="en-GB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=5.5 </m:t>
                    </m:r>
                    <m:sSup>
                      <m:sSup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GB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GB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𝑆𝐿</m:t>
                                </m:r>
                              </m:sub>
                            </m:sSub>
                          </m:e>
                        </m:d>
                      </m:e>
                      <m:sup>
                        <m:box>
                          <m:boxPr>
                            <m:ctrlP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GB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box>
                      </m:sup>
                    </m:sSup>
                  </m:oMath>
                </a14:m>
                <a:r>
                  <a:rPr lang="en-GB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59299BF-67E5-7D9E-7751-EF692C082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08" y="3685043"/>
                <a:ext cx="2457157" cy="5188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BC7F3D8-7BEE-1732-19A5-8475F62C6B00}"/>
                  </a:ext>
                </a:extLst>
              </p:cNvPr>
              <p:cNvSpPr txBox="1"/>
              <p:nvPr/>
            </p:nvSpPr>
            <p:spPr>
              <a:xfrm>
                <a:off x="773720" y="4203878"/>
                <a:ext cx="9223717" cy="1536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140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1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𝚪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14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pt-BR" sz="14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14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type m:val="lin"/>
                                  <m:ctrlP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1400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400" i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f>
                                        <m:fPr>
                                          <m:ctrlP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pt-BR" sz="1400" i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d>
                                            <m:dPr>
                                              <m:ctrlP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BR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BR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func>
                                            <m:func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𝑒𝑥𝑝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pt-BR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f>
                                                    <m:fPr>
                                                      <m:ctrlP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𝜈</m:t>
                                                      </m:r>
                                                      <m: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𝛿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</m:sub>
                                                      </m:sSub>
                                                    </m:num>
                                                    <m:den>
                                                      <m:sSub>
                                                        <m:sSubPr>
                                                          <m:ctrlP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𝐷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</m:sub>
                                                      </m:sSub>
                                                    </m:den>
                                                  </m:f>
                                                </m:e>
                                              </m:d>
                                            </m:e>
                                          </m:func>
                                        </m:den>
                                      </m:f>
                                    </m:e>
                                  </m:d>
                                  <m:d>
                                    <m:dPr>
                                      <m:ctrlP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pt-BR" sz="1400" i="0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pt-BR" sz="14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pt-BR" sz="1400" i="0">
                                              <a:latin typeface="Cambria Math" panose="02040503050406030204" pitchFamily="18" charset="0"/>
                                            </a:rPr>
                                            <m:t>0, </m:t>
                                          </m:r>
                                          <m: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den>
                      </m:f>
                      <m:func>
                        <m:func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𝑙𝑛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pt-BR" sz="1400" i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pt-BR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sSub>
                                                    <m:sSubPr>
                                                      <m:ctrlP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sub>
                                                  </m:sSub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pt-BR" sz="1400" i="0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  <m:func>
                                                    <m:funcPr>
                                                      <m:ctrlP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uncPr>
                                                    <m:fName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𝑒𝑥𝑝</m:t>
                                                      </m:r>
                                                    </m:fName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f>
                                                            <m:fPr>
                                                              <m:ctrlPr>
                                                                <a:rPr lang="pt-BR" sz="1400" i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fPr>
                                                            <m:num>
                                                              <m:r>
                                                                <a:rPr lang="pt-BR" sz="1400" i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r>
                                                                <a:rPr lang="pt-BR" sz="14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𝜈</m:t>
                                                              </m:r>
                                                              <m:r>
                                                                <a:rPr lang="pt-BR" sz="1400" i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 </m:t>
                                                              </m:r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𝛿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num>
                                                            <m:den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𝐷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den>
                                                          </m:f>
                                                        </m:e>
                                                      </m:d>
                                                    </m:e>
                                                  </m:func>
                                                </m:den>
                                              </m:f>
                                            </m:e>
                                          </m:d>
                                          <m:sSub>
                                            <m:sSub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  <m: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  <m:t>, </m:t>
                                              </m:r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nary>
                                </m:num>
                                <m:den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pt-BR" sz="1400" i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pt-BR" sz="1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pt-B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pt-BR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sSub>
                                                    <m:sSubPr>
                                                      <m:ctrlP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sub>
                                                  </m:sSub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pt-BR" sz="1400" i="0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pt-BR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  <m:func>
                                                    <m:funcPr>
                                                      <m:ctrlP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uncPr>
                                                    <m:fName>
                                                      <m:r>
                                                        <a:rPr lang="pt-BR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𝑒𝑥𝑝</m:t>
                                                      </m:r>
                                                    </m:fName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pt-BR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f>
                                                            <m:fPr>
                                                              <m:ctrlPr>
                                                                <a:rPr lang="pt-BR" sz="1400" i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fPr>
                                                            <m:num>
                                                              <m:r>
                                                                <a:rPr lang="pt-BR" sz="1400" i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r>
                                                                <a:rPr lang="pt-BR" sz="14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𝜈</m:t>
                                                              </m:r>
                                                              <m:r>
                                                                <a:rPr lang="pt-BR" sz="1400" i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 </m:t>
                                                              </m:r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𝛿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num>
                                                            <m:den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𝐷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pt-BR" sz="14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den>
                                                          </m:f>
                                                        </m:e>
                                                      </m:d>
                                                    </m:e>
                                                  </m:func>
                                                </m:den>
                                              </m:f>
                                            </m:e>
                                          </m:d>
                                          <m:sSub>
                                            <m:sSub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400" i="0">
                                                  <a:latin typeface="Cambria Math" panose="02040503050406030204" pitchFamily="18" charset="0"/>
                                                </a:rPr>
                                                <m:t>0, </m:t>
                                              </m:r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nary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BC7F3D8-7BEE-1732-19A5-8475F62C6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20" y="4203878"/>
                <a:ext cx="9223717" cy="15363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9EF385F5-327A-0CF4-1341-3F3C0A1E6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26676817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7E33D-F232-2A85-3DA1-2854362C3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126BF-292F-2302-888F-7D536D2BF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1</a:t>
            </a:r>
            <a:endParaRPr lang="pt-BR" sz="4000" b="1" cap="none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35BE9C-321C-E193-987B-81C6AFF1BB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62292"/>
            <a:ext cx="4896183" cy="4625379"/>
          </a:xfrm>
        </p:spPr>
        <p:txBody>
          <a:bodyPr>
            <a:normAutofit/>
          </a:bodyPr>
          <a:lstStyle/>
          <a:p>
            <a:r>
              <a:rPr lang="pt-BR" sz="1800" b="1" cap="none" dirty="0">
                <a:solidFill>
                  <a:srgbClr val="FFFF00"/>
                </a:solidFill>
              </a:rPr>
              <a:t>Experimental </a:t>
            </a:r>
            <a:r>
              <a:rPr lang="pt-BR" sz="1800" b="1" cap="none" dirty="0" err="1">
                <a:solidFill>
                  <a:srgbClr val="FFFF00"/>
                </a:solidFill>
              </a:rPr>
              <a:t>validation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cap="none" dirty="0"/>
              <a:t>[</a:t>
            </a:r>
            <a:r>
              <a:rPr lang="pt-BR" sz="1800" cap="none" dirty="0" err="1"/>
              <a:t>Present</a:t>
            </a:r>
            <a:r>
              <a:rPr lang="pt-BR" sz="1800" cap="none" dirty="0"/>
              <a:t> </a:t>
            </a:r>
            <a:r>
              <a:rPr lang="pt-BR" sz="1800" cap="none" dirty="0" err="1"/>
              <a:t>work</a:t>
            </a:r>
            <a:r>
              <a:rPr lang="pt-BR" sz="1800" cap="none" dirty="0"/>
              <a:t>]:</a:t>
            </a:r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r>
              <a:rPr lang="en-GB" sz="1800" b="1" cap="none" dirty="0"/>
              <a:t>Figure 6</a:t>
            </a:r>
            <a:r>
              <a:rPr lang="en-GB" sz="1800" cap="none" dirty="0"/>
              <a:t> </a:t>
            </a:r>
            <a:r>
              <a:rPr lang="en-US" sz="1800" cap="none" dirty="0"/>
              <a:t>Comparison between secondary arm-spacing models and experimental scatter.</a:t>
            </a:r>
            <a:endParaRPr lang="pt-BR" sz="1800" cap="none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D029DC7-420E-3C96-635C-4F5A05B02311}"/>
              </a:ext>
            </a:extLst>
          </p:cNvPr>
          <p:cNvSpPr txBox="1"/>
          <p:nvPr/>
        </p:nvSpPr>
        <p:spPr>
          <a:xfrm>
            <a:off x="8693053" y="5758583"/>
            <a:ext cx="633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cap="none" dirty="0"/>
              <a:t>( A )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DB87E20-9E02-2A79-AFB8-26F623BC5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513" y="2062292"/>
            <a:ext cx="6627887" cy="3603914"/>
          </a:xfrm>
          <a:prstGeom prst="rect">
            <a:avLst/>
          </a:prstGeom>
        </p:spPr>
      </p:pic>
      <p:sp>
        <p:nvSpPr>
          <p:cNvPr id="9" name="Espaço Reservado para Rodapé 4">
            <a:extLst>
              <a:ext uri="{FF2B5EF4-FFF2-40B4-BE49-F238E27FC236}">
                <a16:creationId xmlns:a16="http://schemas.microsoft.com/office/drawing/2014/main" id="{B0DED71C-FCE7-3A60-C5A3-A2C2EA7FC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26436750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EAAA6-A3BD-736D-E8DB-AA23FC81F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76A33-926D-4B93-6CC5-424626C4F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2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5BB88F1-F553-D214-6F1C-E30B8436236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74" y="2062292"/>
                <a:ext cx="5041549" cy="4625379"/>
              </a:xfrm>
            </p:spPr>
            <p:txBody>
              <a:bodyPr>
                <a:normAutofit/>
              </a:bodyPr>
              <a:lstStyle/>
              <a:p>
                <a:r>
                  <a:rPr lang="pt-BR" sz="1800" b="1" cap="none" dirty="0">
                    <a:solidFill>
                      <a:srgbClr val="FFFF00"/>
                    </a:solidFill>
                  </a:rPr>
                  <a:t>Experimental </a:t>
                </a:r>
                <a:r>
                  <a:rPr lang="pt-BR" sz="1800" b="1" cap="none" dirty="0" err="1">
                    <a:solidFill>
                      <a:srgbClr val="FFFF00"/>
                    </a:solidFill>
                  </a:rPr>
                  <a:t>validation</a:t>
                </a:r>
                <a:r>
                  <a:rPr lang="pt-BR" sz="1800" b="1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sz="1800" cap="none" dirty="0"/>
                  <a:t>[Marques et al. (2025)]:</a:t>
                </a:r>
              </a:p>
              <a:p>
                <a:pPr marL="0" indent="0">
                  <a:buNone/>
                </a:pPr>
                <a:endParaRPr lang="pt-BR" sz="1800" cap="none" dirty="0"/>
              </a:p>
              <a:p>
                <a:pPr marL="0" indent="0">
                  <a:buNone/>
                </a:pPr>
                <a:endParaRPr lang="pt-BR" sz="1800" cap="none" dirty="0"/>
              </a:p>
              <a:p>
                <a:pPr marL="0" indent="0">
                  <a:buNone/>
                </a:pPr>
                <a:r>
                  <a:rPr lang="en-GB" sz="1800" b="1" cap="none" dirty="0"/>
                  <a:t>Figure 15</a:t>
                </a:r>
                <a:r>
                  <a:rPr lang="en-GB" sz="1800" cap="none" dirty="0"/>
                  <a:t>  Experimental data from transient solidification measurements yielded (A) dendrite tip growth rates, (B) liquidus thermal gradients, and (C) dendrite tip cooling rates.</a:t>
                </a:r>
              </a:p>
              <a:p>
                <a:pPr marL="0" indent="0">
                  <a:buNone/>
                </a:pPr>
                <a:endParaRPr lang="en-GB" sz="1800" cap="non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pt-BR" b="0" i="0" cap="none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pt-BR" b="1" i="0" cap="none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pt-BR" b="0" i="1" cap="none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=7902. 38 </m:t>
                      </m:r>
                      <m:r>
                        <a:rPr lang="pt-BR" b="0" i="1" cap="none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pt-BR" b="0" i="1" cap="none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b="0" i="1" cap="none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pt-BR" cap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5BB88F1-F553-D214-6F1C-E30B843623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74" y="2062292"/>
                <a:ext cx="5041549" cy="4625379"/>
              </a:xfrm>
              <a:blipFill>
                <a:blip r:embed="rId3"/>
                <a:stretch>
                  <a:fillRect l="-1330" t="-2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2809E8-4458-6E83-290E-573808820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3453"/>
            <a:ext cx="6672887" cy="365125"/>
          </a:xfrm>
        </p:spPr>
        <p:txBody>
          <a:bodyPr/>
          <a:lstStyle/>
          <a:p>
            <a:r>
              <a:rPr lang="en-US" dirty="0"/>
              <a:t>I. L. Ferreira at the International Conference on Materials Science, Italy (2025)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881CD4-7B4C-7925-FA40-72E8D6518DAD}"/>
              </a:ext>
            </a:extLst>
          </p:cNvPr>
          <p:cNvSpPr txBox="1"/>
          <p:nvPr/>
        </p:nvSpPr>
        <p:spPr>
          <a:xfrm>
            <a:off x="8947053" y="5735492"/>
            <a:ext cx="633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cap="none" dirty="0"/>
              <a:t>( B )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1348534-870C-69F9-ADAE-1404EE4CA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031" y="2330548"/>
            <a:ext cx="5655977" cy="307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75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F2011-10DF-ACAB-6F42-B6E6347C5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01A0B-F772-8005-4AAE-C3D03946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2</a:t>
            </a:r>
            <a:endParaRPr lang="pt-BR" sz="4000" b="1" cap="none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20C4B1-D814-726C-2BEC-07FF859D1D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62292"/>
            <a:ext cx="5041549" cy="4625379"/>
          </a:xfrm>
        </p:spPr>
        <p:txBody>
          <a:bodyPr>
            <a:normAutofit/>
          </a:bodyPr>
          <a:lstStyle/>
          <a:p>
            <a:r>
              <a:rPr lang="pt-BR" sz="1800" b="1" cap="none" dirty="0">
                <a:solidFill>
                  <a:srgbClr val="FFFF00"/>
                </a:solidFill>
              </a:rPr>
              <a:t>Experimental </a:t>
            </a:r>
            <a:r>
              <a:rPr lang="pt-BR" sz="1800" b="1" cap="none" dirty="0" err="1">
                <a:solidFill>
                  <a:srgbClr val="FFFF00"/>
                </a:solidFill>
              </a:rPr>
              <a:t>validation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cap="none" dirty="0"/>
              <a:t>[Marques et al. (2025)]:</a:t>
            </a:r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r>
              <a:rPr lang="en-GB" sz="1800" b="1" cap="none" dirty="0"/>
              <a:t>Figure 16</a:t>
            </a:r>
            <a:r>
              <a:rPr lang="en-GB" sz="1800" cap="none" dirty="0"/>
              <a:t> </a:t>
            </a:r>
            <a:r>
              <a:rPr lang="en-US" sz="1800" cap="none" dirty="0"/>
              <a:t>Thermal field tensor (Gibbs-Thomson) function of thermal gradient.</a:t>
            </a:r>
            <a:endParaRPr lang="pt-BR" sz="1800" cap="none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82E6AD-89E1-8859-4A99-37C1F24AE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3453"/>
            <a:ext cx="6672887" cy="365125"/>
          </a:xfrm>
        </p:spPr>
        <p:txBody>
          <a:bodyPr/>
          <a:lstStyle/>
          <a:p>
            <a:r>
              <a:rPr lang="en-US" dirty="0"/>
              <a:t>I. L. Ferreira at the International Conference on Materials Science, Italy (2025)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503A506-19D7-F7B5-CC69-9DA79DC5C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679" y="2544548"/>
            <a:ext cx="6544237" cy="355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284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283B8-FFD2-E9A3-D771-4CDB75C1D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8881F5-0DAA-7B81-0EF4-D37692F44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2</a:t>
            </a:r>
            <a:endParaRPr lang="pt-BR" sz="4000" b="1" cap="none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EE3FB9-601F-88F1-BE6F-A32A87BFA0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62292"/>
            <a:ext cx="5041549" cy="4625379"/>
          </a:xfrm>
        </p:spPr>
        <p:txBody>
          <a:bodyPr>
            <a:normAutofit/>
          </a:bodyPr>
          <a:lstStyle/>
          <a:p>
            <a:r>
              <a:rPr lang="pt-BR" sz="1800" b="1" cap="none" dirty="0">
                <a:solidFill>
                  <a:srgbClr val="FFFF00"/>
                </a:solidFill>
              </a:rPr>
              <a:t>Experimental </a:t>
            </a:r>
            <a:r>
              <a:rPr lang="pt-BR" sz="1800" b="1" cap="none" dirty="0" err="1">
                <a:solidFill>
                  <a:srgbClr val="FFFF00"/>
                </a:solidFill>
              </a:rPr>
              <a:t>validation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cap="none" dirty="0"/>
              <a:t>[Marques et al. (2025)]:</a:t>
            </a:r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r>
              <a:rPr lang="en-GB" sz="1800" b="1" cap="none" dirty="0"/>
              <a:t>Figure 17</a:t>
            </a:r>
            <a:r>
              <a:rPr lang="en-GB" sz="1800" cap="none" dirty="0"/>
              <a:t> </a:t>
            </a:r>
            <a:r>
              <a:rPr lang="en-US" sz="1800" cap="none" dirty="0"/>
              <a:t>Comparison between secondary arm-spacing models and experimental scatter.</a:t>
            </a:r>
            <a:endParaRPr lang="pt-BR" sz="1800" cap="none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BDD83A-5E35-79B8-A986-9468B7B7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3453"/>
            <a:ext cx="6672887" cy="365125"/>
          </a:xfrm>
        </p:spPr>
        <p:txBody>
          <a:bodyPr/>
          <a:lstStyle/>
          <a:p>
            <a:r>
              <a:rPr lang="en-US" dirty="0"/>
              <a:t>I. L. Ferreira at the International Conference on Materials Science, Italy (2025)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F0EC351-2A7B-9BAA-B76A-956429CB3C74}"/>
              </a:ext>
            </a:extLst>
          </p:cNvPr>
          <p:cNvSpPr txBox="1"/>
          <p:nvPr/>
        </p:nvSpPr>
        <p:spPr>
          <a:xfrm>
            <a:off x="8947053" y="5735492"/>
            <a:ext cx="633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cap="none" dirty="0"/>
              <a:t>( A )</a:t>
            </a:r>
            <a:endParaRPr lang="pt-BR" b="1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F63B8B0-917D-2377-49F0-B258F0F5F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629" y="2524618"/>
            <a:ext cx="6320016" cy="343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42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1C398-0FD2-50FD-9B72-47215C132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5FD11-7DA5-8061-5CBC-BE13E214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1</a:t>
            </a:r>
            <a:endParaRPr lang="pt-BR" sz="4000" b="1" cap="none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EA0DA1-2C28-6FA7-20ED-42FC5F35335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62292"/>
            <a:ext cx="5041549" cy="4625379"/>
          </a:xfrm>
        </p:spPr>
        <p:txBody>
          <a:bodyPr>
            <a:normAutofit/>
          </a:bodyPr>
          <a:lstStyle/>
          <a:p>
            <a:r>
              <a:rPr lang="pt-BR" sz="1800" b="1" cap="none" dirty="0">
                <a:solidFill>
                  <a:srgbClr val="FFFF00"/>
                </a:solidFill>
              </a:rPr>
              <a:t>Experimental </a:t>
            </a:r>
            <a:r>
              <a:rPr lang="pt-BR" sz="1800" b="1" cap="none" dirty="0" err="1">
                <a:solidFill>
                  <a:srgbClr val="FFFF00"/>
                </a:solidFill>
              </a:rPr>
              <a:t>validation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cap="none" dirty="0"/>
              <a:t>[Ferreira et al. (2025)]:</a:t>
            </a:r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r>
              <a:rPr lang="en-GB" sz="1800" b="1" cap="none" dirty="0"/>
              <a:t>Figure 7</a:t>
            </a:r>
            <a:r>
              <a:rPr lang="en-GB" sz="1800" cap="none" dirty="0"/>
              <a:t> </a:t>
            </a:r>
            <a:r>
              <a:rPr lang="en-US" sz="1800" cap="none" dirty="0"/>
              <a:t>Gibbs bulk free-energy as a function of thermal gradient.</a:t>
            </a:r>
            <a:endParaRPr lang="pt-BR" sz="1800" cap="none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91C0ED-2223-2EEB-D87D-4E8681569687}"/>
              </a:ext>
            </a:extLst>
          </p:cNvPr>
          <p:cNvSpPr txBox="1"/>
          <p:nvPr/>
        </p:nvSpPr>
        <p:spPr>
          <a:xfrm>
            <a:off x="8947053" y="5735492"/>
            <a:ext cx="633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cap="none" dirty="0"/>
              <a:t>( A )</a:t>
            </a:r>
            <a:endParaRPr lang="pt-BR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B94C45F-016E-257E-2B2E-5EFC35E50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268" y="2214631"/>
            <a:ext cx="6289570" cy="3419954"/>
          </a:xfrm>
          <a:prstGeom prst="rect">
            <a:avLst/>
          </a:prstGeom>
        </p:spPr>
      </p:pic>
      <p:sp>
        <p:nvSpPr>
          <p:cNvPr id="9" name="Espaço Reservado para Rodapé 4">
            <a:extLst>
              <a:ext uri="{FF2B5EF4-FFF2-40B4-BE49-F238E27FC236}">
                <a16:creationId xmlns:a16="http://schemas.microsoft.com/office/drawing/2014/main" id="{C03F1651-3B81-6319-A3E5-3C2740098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37443579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8A99B-2702-F123-1D1C-50A31064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F06F4-1C4C-5EF6-075B-E57C6F589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1</a:t>
            </a:r>
            <a:endParaRPr lang="pt-BR" sz="4000" b="1" cap="none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4A7100-5BC9-FC54-422C-128D3AA3EC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62292"/>
            <a:ext cx="5041549" cy="4625379"/>
          </a:xfrm>
        </p:spPr>
        <p:txBody>
          <a:bodyPr>
            <a:normAutofit/>
          </a:bodyPr>
          <a:lstStyle/>
          <a:p>
            <a:r>
              <a:rPr lang="pt-BR" sz="1800" b="1" cap="none" dirty="0">
                <a:solidFill>
                  <a:srgbClr val="FFFF00"/>
                </a:solidFill>
              </a:rPr>
              <a:t>Experimental </a:t>
            </a:r>
            <a:r>
              <a:rPr lang="pt-BR" sz="1800" b="1" cap="none" dirty="0" err="1">
                <a:solidFill>
                  <a:srgbClr val="FFFF00"/>
                </a:solidFill>
              </a:rPr>
              <a:t>validation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cap="none" dirty="0"/>
              <a:t>[</a:t>
            </a:r>
            <a:r>
              <a:rPr lang="pt-BR" sz="1800" cap="none" dirty="0" err="1"/>
              <a:t>Present</a:t>
            </a:r>
            <a:r>
              <a:rPr lang="pt-BR" sz="1800" cap="none" dirty="0"/>
              <a:t> </a:t>
            </a:r>
            <a:r>
              <a:rPr lang="pt-BR" sz="1800" cap="none" dirty="0" err="1"/>
              <a:t>work</a:t>
            </a:r>
            <a:r>
              <a:rPr lang="pt-BR" sz="1800" cap="none" dirty="0"/>
              <a:t>]:</a:t>
            </a:r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r>
              <a:rPr lang="en-GB" sz="1800" b="1" cap="none" dirty="0"/>
              <a:t>Figure 8</a:t>
            </a:r>
            <a:r>
              <a:rPr lang="en-GB" sz="1800" cap="none" dirty="0"/>
              <a:t> </a:t>
            </a:r>
            <a:r>
              <a:rPr lang="en-US" sz="1800" cap="none" dirty="0"/>
              <a:t>Gibbs surface free-energy as a function of thermal gradient.</a:t>
            </a:r>
            <a:endParaRPr lang="pt-BR" sz="1800" cap="none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CFFECE3-C652-AB9F-3BC1-745289FCFFB7}"/>
              </a:ext>
            </a:extLst>
          </p:cNvPr>
          <p:cNvSpPr txBox="1"/>
          <p:nvPr/>
        </p:nvSpPr>
        <p:spPr>
          <a:xfrm>
            <a:off x="8947053" y="5735492"/>
            <a:ext cx="633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cap="none" dirty="0"/>
              <a:t>( A )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213E5E3-79EE-64C4-66A5-240C1D4ED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128" y="2373745"/>
            <a:ext cx="6017789" cy="3272173"/>
          </a:xfrm>
          <a:prstGeom prst="rect">
            <a:avLst/>
          </a:prstGeom>
        </p:spPr>
      </p:pic>
      <p:sp>
        <p:nvSpPr>
          <p:cNvPr id="9" name="Espaço Reservado para Rodapé 4">
            <a:extLst>
              <a:ext uri="{FF2B5EF4-FFF2-40B4-BE49-F238E27FC236}">
                <a16:creationId xmlns:a16="http://schemas.microsoft.com/office/drawing/2014/main" id="{DF375220-0482-0699-BC7F-2056D337D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2862690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899F-AEEA-74B6-9F3F-9D04354EC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B35DED-4157-BA11-EBE9-7F753CDCF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1</a:t>
            </a:r>
            <a:endParaRPr lang="pt-BR" sz="4000" b="1" cap="none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8234-3487-615B-F81D-65B381772B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62292"/>
            <a:ext cx="5041549" cy="4625379"/>
          </a:xfrm>
        </p:spPr>
        <p:txBody>
          <a:bodyPr>
            <a:normAutofit/>
          </a:bodyPr>
          <a:lstStyle/>
          <a:p>
            <a:r>
              <a:rPr lang="pt-BR" sz="1800" b="1" cap="none" dirty="0">
                <a:solidFill>
                  <a:srgbClr val="FFFF00"/>
                </a:solidFill>
              </a:rPr>
              <a:t>Experimental </a:t>
            </a:r>
            <a:r>
              <a:rPr lang="pt-BR" sz="1800" b="1" cap="none" dirty="0" err="1">
                <a:solidFill>
                  <a:srgbClr val="FFFF00"/>
                </a:solidFill>
              </a:rPr>
              <a:t>validation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cap="none" dirty="0"/>
              <a:t>[</a:t>
            </a:r>
            <a:r>
              <a:rPr lang="pt-BR" sz="1800" cap="none" dirty="0" err="1"/>
              <a:t>Present</a:t>
            </a:r>
            <a:r>
              <a:rPr lang="pt-BR" sz="1800" cap="none" dirty="0"/>
              <a:t> </a:t>
            </a:r>
            <a:r>
              <a:rPr lang="pt-BR" sz="1800" cap="none" dirty="0" err="1"/>
              <a:t>Work</a:t>
            </a:r>
            <a:r>
              <a:rPr lang="pt-BR" sz="1800" cap="none" dirty="0"/>
              <a:t>]:</a:t>
            </a:r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r>
              <a:rPr lang="en-GB" sz="1800" b="1" cap="none" dirty="0"/>
              <a:t>Figure 9</a:t>
            </a:r>
            <a:r>
              <a:rPr lang="en-GB" sz="1800" cap="none" dirty="0"/>
              <a:t> </a:t>
            </a:r>
            <a:r>
              <a:rPr lang="en-US" sz="1800" cap="none" dirty="0"/>
              <a:t>Gibbs configurational free-energy as a function of thermal gradient.</a:t>
            </a:r>
            <a:endParaRPr lang="pt-BR" sz="1800" cap="none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A6DEA46-929A-9656-4AD9-AD2F563DDB53}"/>
              </a:ext>
            </a:extLst>
          </p:cNvPr>
          <p:cNvSpPr txBox="1"/>
          <p:nvPr/>
        </p:nvSpPr>
        <p:spPr>
          <a:xfrm>
            <a:off x="8905489" y="5809383"/>
            <a:ext cx="633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cap="none" dirty="0"/>
              <a:t>( A )</a:t>
            </a:r>
            <a:endParaRPr lang="pt-BR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947F56B-29C7-5630-E204-AF9839A53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261" y="2288207"/>
            <a:ext cx="6340529" cy="3447663"/>
          </a:xfrm>
          <a:prstGeom prst="rect">
            <a:avLst/>
          </a:prstGeom>
        </p:spPr>
      </p:pic>
      <p:sp>
        <p:nvSpPr>
          <p:cNvPr id="7" name="Espaço Reservado para Rodapé 4">
            <a:extLst>
              <a:ext uri="{FF2B5EF4-FFF2-40B4-BE49-F238E27FC236}">
                <a16:creationId xmlns:a16="http://schemas.microsoft.com/office/drawing/2014/main" id="{75C50349-36C7-F6F5-3546-1722F9C19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16943832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BB8CC-12EB-20E2-2685-3AC3E53BF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459F02-4670-2055-D8B3-8714C885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1</a:t>
            </a:r>
            <a:endParaRPr lang="pt-BR" sz="4000" b="1" cap="none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607BE6-3913-FA83-3D4E-3F19B0529A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62292"/>
            <a:ext cx="5041549" cy="4625379"/>
          </a:xfrm>
        </p:spPr>
        <p:txBody>
          <a:bodyPr>
            <a:normAutofit/>
          </a:bodyPr>
          <a:lstStyle/>
          <a:p>
            <a:r>
              <a:rPr lang="pt-BR" sz="1800" b="1" cap="none" dirty="0">
                <a:solidFill>
                  <a:srgbClr val="FFFF00"/>
                </a:solidFill>
              </a:rPr>
              <a:t>Experimental </a:t>
            </a:r>
            <a:r>
              <a:rPr lang="pt-BR" sz="1800" b="1" cap="none" dirty="0" err="1">
                <a:solidFill>
                  <a:srgbClr val="FFFF00"/>
                </a:solidFill>
              </a:rPr>
              <a:t>validation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cap="none" dirty="0"/>
              <a:t>[</a:t>
            </a:r>
            <a:r>
              <a:rPr lang="pt-BR" sz="1800" cap="none" dirty="0" err="1"/>
              <a:t>Present</a:t>
            </a:r>
            <a:r>
              <a:rPr lang="pt-BR" sz="1800" cap="none" dirty="0"/>
              <a:t> </a:t>
            </a:r>
            <a:r>
              <a:rPr lang="pt-BR" sz="1800" cap="none" dirty="0" err="1"/>
              <a:t>work</a:t>
            </a:r>
            <a:r>
              <a:rPr lang="pt-BR" sz="1800" cap="none" dirty="0"/>
              <a:t>]:</a:t>
            </a:r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r>
              <a:rPr lang="en-GB" sz="1800" b="1" cap="none" dirty="0"/>
              <a:t>Figure 10</a:t>
            </a:r>
            <a:r>
              <a:rPr lang="en-GB" sz="1800" cap="none" dirty="0"/>
              <a:t> </a:t>
            </a:r>
            <a:r>
              <a:rPr lang="en-US" sz="1800" cap="none" dirty="0"/>
              <a:t>Bulk entropy as a function of thermal gradient.</a:t>
            </a:r>
            <a:endParaRPr lang="pt-BR" sz="1800" cap="none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E3F37AE-6C49-2947-6E39-C15F8097CE86}"/>
              </a:ext>
            </a:extLst>
          </p:cNvPr>
          <p:cNvSpPr txBox="1"/>
          <p:nvPr/>
        </p:nvSpPr>
        <p:spPr>
          <a:xfrm>
            <a:off x="8947053" y="5735492"/>
            <a:ext cx="633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cap="none" dirty="0"/>
              <a:t>( A )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9CF8F39-E83F-841A-CAF0-BC3857DB1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309" y="2103593"/>
            <a:ext cx="6595697" cy="3586410"/>
          </a:xfrm>
          <a:prstGeom prst="rect">
            <a:avLst/>
          </a:prstGeom>
        </p:spPr>
      </p:pic>
      <p:sp>
        <p:nvSpPr>
          <p:cNvPr id="9" name="Espaço Reservado para Rodapé 4">
            <a:extLst>
              <a:ext uri="{FF2B5EF4-FFF2-40B4-BE49-F238E27FC236}">
                <a16:creationId xmlns:a16="http://schemas.microsoft.com/office/drawing/2014/main" id="{63AE6FEB-7396-5588-3D97-044630F4D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23341826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45018-24A0-310A-B28C-9920DD387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37A9B7-12A5-DB65-42A7-323549FAC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1</a:t>
            </a:r>
            <a:endParaRPr lang="pt-BR" sz="4000" b="1" cap="none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4ADD9C-321B-69B7-EB83-4A3F69DD54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62292"/>
            <a:ext cx="5041549" cy="4625379"/>
          </a:xfrm>
        </p:spPr>
        <p:txBody>
          <a:bodyPr>
            <a:normAutofit/>
          </a:bodyPr>
          <a:lstStyle/>
          <a:p>
            <a:r>
              <a:rPr lang="pt-BR" sz="1800" b="1" cap="none" dirty="0">
                <a:solidFill>
                  <a:srgbClr val="FFFF00"/>
                </a:solidFill>
              </a:rPr>
              <a:t>Experimental </a:t>
            </a:r>
            <a:r>
              <a:rPr lang="pt-BR" sz="1800" b="1" cap="none" dirty="0" err="1">
                <a:solidFill>
                  <a:srgbClr val="FFFF00"/>
                </a:solidFill>
              </a:rPr>
              <a:t>validation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cap="none" dirty="0"/>
              <a:t>[</a:t>
            </a:r>
            <a:r>
              <a:rPr lang="pt-BR" sz="1800" cap="none" dirty="0" err="1"/>
              <a:t>Present</a:t>
            </a:r>
            <a:r>
              <a:rPr lang="pt-BR" sz="1800" cap="none" dirty="0"/>
              <a:t> </a:t>
            </a:r>
            <a:r>
              <a:rPr lang="pt-BR" sz="1800" cap="none" dirty="0" err="1"/>
              <a:t>work</a:t>
            </a:r>
            <a:r>
              <a:rPr lang="pt-BR" sz="1800" cap="none" dirty="0"/>
              <a:t>]:</a:t>
            </a:r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r>
              <a:rPr lang="en-GB" sz="1800" b="1" cap="none" dirty="0"/>
              <a:t>Figure 11</a:t>
            </a:r>
            <a:r>
              <a:rPr lang="en-GB" sz="1800" cap="none" dirty="0"/>
              <a:t> </a:t>
            </a:r>
            <a:r>
              <a:rPr lang="en-US" sz="1800" cap="none" dirty="0"/>
              <a:t>Surface entropy as a function of thermal gradient.</a:t>
            </a:r>
            <a:endParaRPr lang="pt-BR" sz="1800" cap="none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52F39B4-60A8-D475-BE55-48EA9ACFA4D5}"/>
              </a:ext>
            </a:extLst>
          </p:cNvPr>
          <p:cNvSpPr txBox="1"/>
          <p:nvPr/>
        </p:nvSpPr>
        <p:spPr>
          <a:xfrm>
            <a:off x="8947053" y="5735492"/>
            <a:ext cx="633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cap="none" dirty="0"/>
              <a:t>( A )</a:t>
            </a:r>
            <a:endParaRPr lang="pt-BR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92CD49E-3379-B1DA-A3EB-61B55CC82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720" y="2297443"/>
            <a:ext cx="6170666" cy="3355300"/>
          </a:xfrm>
          <a:prstGeom prst="rect">
            <a:avLst/>
          </a:prstGeom>
        </p:spPr>
      </p:pic>
      <p:sp>
        <p:nvSpPr>
          <p:cNvPr id="9" name="Espaço Reservado para Rodapé 4">
            <a:extLst>
              <a:ext uri="{FF2B5EF4-FFF2-40B4-BE49-F238E27FC236}">
                <a16:creationId xmlns:a16="http://schemas.microsoft.com/office/drawing/2014/main" id="{6644B900-46EC-BF7A-1260-56BB3CE73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13350630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4168F-A4B2-326F-7868-BC288B55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CEDF6-D0ED-5B45-6A11-93424F044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1</a:t>
            </a:r>
            <a:endParaRPr lang="pt-BR" sz="4000" b="1" cap="none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4720E6-7161-96E5-32B3-12FEF2C36D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62292"/>
            <a:ext cx="5041549" cy="4625379"/>
          </a:xfrm>
        </p:spPr>
        <p:txBody>
          <a:bodyPr>
            <a:normAutofit/>
          </a:bodyPr>
          <a:lstStyle/>
          <a:p>
            <a:r>
              <a:rPr lang="pt-BR" sz="1800" b="1" cap="none" dirty="0">
                <a:solidFill>
                  <a:srgbClr val="FFFF00"/>
                </a:solidFill>
              </a:rPr>
              <a:t>Experimental </a:t>
            </a:r>
            <a:r>
              <a:rPr lang="pt-BR" sz="1800" b="1" cap="none" dirty="0" err="1">
                <a:solidFill>
                  <a:srgbClr val="FFFF00"/>
                </a:solidFill>
              </a:rPr>
              <a:t>validation</a:t>
            </a:r>
            <a:r>
              <a:rPr lang="pt-BR" sz="1800" b="1" cap="none" dirty="0">
                <a:solidFill>
                  <a:srgbClr val="FFFF00"/>
                </a:solidFill>
              </a:rPr>
              <a:t> </a:t>
            </a:r>
            <a:r>
              <a:rPr lang="pt-BR" sz="1800" cap="none" dirty="0"/>
              <a:t>[</a:t>
            </a:r>
            <a:r>
              <a:rPr lang="pt-BR" sz="1800" cap="none" dirty="0" err="1"/>
              <a:t>Present</a:t>
            </a:r>
            <a:r>
              <a:rPr lang="pt-BR" sz="1800" cap="none" dirty="0"/>
              <a:t> </a:t>
            </a:r>
            <a:r>
              <a:rPr lang="pt-BR" sz="1800" cap="none" dirty="0" err="1"/>
              <a:t>work</a:t>
            </a:r>
            <a:r>
              <a:rPr lang="pt-BR" sz="1800" cap="none" dirty="0"/>
              <a:t>]:</a:t>
            </a:r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endParaRPr lang="pt-BR" sz="1800" cap="none" dirty="0"/>
          </a:p>
          <a:p>
            <a:pPr marL="0" indent="0">
              <a:buNone/>
            </a:pPr>
            <a:r>
              <a:rPr lang="en-GB" sz="1800" b="1" cap="none" dirty="0"/>
              <a:t>Figure 12</a:t>
            </a:r>
            <a:r>
              <a:rPr lang="en-GB" sz="1800" cap="none" dirty="0"/>
              <a:t> </a:t>
            </a:r>
            <a:r>
              <a:rPr lang="en-US" sz="1800" cap="none" dirty="0"/>
              <a:t>Configurational entropy as a function of thermal gradient.</a:t>
            </a:r>
            <a:endParaRPr lang="pt-BR" sz="1800" cap="none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1C41A3-BA1D-8DA4-6083-9068448BFD02}"/>
              </a:ext>
            </a:extLst>
          </p:cNvPr>
          <p:cNvSpPr txBox="1"/>
          <p:nvPr/>
        </p:nvSpPr>
        <p:spPr>
          <a:xfrm>
            <a:off x="8947053" y="5735492"/>
            <a:ext cx="633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cap="none" dirty="0"/>
              <a:t>( A )</a:t>
            </a:r>
            <a:endParaRPr lang="pt-BR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F933653-EADD-26E5-C901-9B170F922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747" y="2309320"/>
            <a:ext cx="6238611" cy="3392245"/>
          </a:xfrm>
          <a:prstGeom prst="rect">
            <a:avLst/>
          </a:prstGeom>
        </p:spPr>
      </p:pic>
      <p:sp>
        <p:nvSpPr>
          <p:cNvPr id="7" name="Espaço Reservado para Rodapé 4">
            <a:extLst>
              <a:ext uri="{FF2B5EF4-FFF2-40B4-BE49-F238E27FC236}">
                <a16:creationId xmlns:a16="http://schemas.microsoft.com/office/drawing/2014/main" id="{67911936-B1AD-B2D7-C358-CD7ED9080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33805202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73797-34B4-972F-70F5-E91029AFA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EFAC5-D7F6-D397-F7F1-0B3309C6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/>
              <a:t>Application Example 3</a:t>
            </a:r>
            <a:endParaRPr lang="pt-BR" sz="4000" b="1" cap="none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4FA640B-A6F4-E30F-139B-21E4ED3175E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74" y="2078525"/>
                <a:ext cx="4652343" cy="388617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pt-BR" sz="1800" b="1" cap="none" dirty="0">
                    <a:solidFill>
                      <a:srgbClr val="FFFF00"/>
                    </a:solidFill>
                  </a:rPr>
                  <a:t>Surface Energy </a:t>
                </a:r>
                <a:r>
                  <a:rPr lang="pt-BR" sz="1800" b="1" cap="none" dirty="0" err="1">
                    <a:solidFill>
                      <a:srgbClr val="FFFF00"/>
                    </a:solidFill>
                  </a:rPr>
                  <a:t>Validation</a:t>
                </a:r>
                <a:r>
                  <a:rPr lang="pt-BR" sz="1800" b="1" cap="none" dirty="0">
                    <a:solidFill>
                      <a:srgbClr val="FFFF00"/>
                    </a:solidFill>
                  </a:rPr>
                  <a:t> </a:t>
                </a:r>
                <a:r>
                  <a:rPr lang="pt-BR" sz="1800" cap="none" dirty="0"/>
                  <a:t>[</a:t>
                </a:r>
                <a:r>
                  <a:rPr lang="pt-BR" sz="1800" cap="none" dirty="0" err="1"/>
                  <a:t>Present</a:t>
                </a:r>
                <a:r>
                  <a:rPr lang="pt-BR" sz="1800" cap="none" dirty="0"/>
                  <a:t> </a:t>
                </a:r>
                <a:r>
                  <a:rPr lang="pt-BR" sz="1800" cap="none" dirty="0" err="1"/>
                  <a:t>work</a:t>
                </a:r>
                <a:r>
                  <a:rPr lang="pt-BR" sz="1800" cap="none" dirty="0"/>
                  <a:t>]:</a:t>
                </a:r>
              </a:p>
              <a:p>
                <a:pPr marL="0" indent="0">
                  <a:buNone/>
                </a:pPr>
                <a:endParaRPr lang="pt-BR" sz="1800" cap="none" dirty="0"/>
              </a:p>
              <a:p>
                <a:pPr marL="0" indent="0" algn="just">
                  <a:buNone/>
                </a:pPr>
                <a:r>
                  <a:rPr lang="en-GB" sz="1800" b="1" cap="none" dirty="0"/>
                  <a:t>Figure 14</a:t>
                </a:r>
                <a:r>
                  <a:rPr lang="en-GB" sz="1800" cap="none" dirty="0"/>
                  <a:t> </a:t>
                </a:r>
                <a:r>
                  <a:rPr lang="en-US" sz="1800" cap="none" dirty="0" err="1"/>
                  <a:t>Vapour</a:t>
                </a:r>
                <a:r>
                  <a:rPr lang="en-US" sz="1800" cap="none" dirty="0"/>
                  <a:t>–liquid interfacial energy </a:t>
                </a:r>
                <a14:m>
                  <m:oMath xmlns:m="http://schemas.openxmlformats.org/officeDocument/2006/math">
                    <m:r>
                      <a:rPr lang="en-US" sz="1800" i="1" cap="none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800" i="1" cap="none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 cap="none" dirty="0" err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i="1" cap="none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800" i="0" cap="none" dirty="0" err="1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1800" i="1" cap="none" dirty="0" err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i="1" cap="none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cap="none" dirty="0"/>
                  <a:t> along the solved continuation. The full geometric surface-free-energy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cap="none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cap="none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1800" i="1" cap="none" dirty="0" smtClean="0">
                            <a:latin typeface="Cambria Math" panose="02040503050406030204" pitchFamily="18" charset="0"/>
                          </a:rPr>
                          <m:t>𝐹𝑒𝑟𝑟𝑒𝑖𝑟𝑎</m:t>
                        </m:r>
                      </m:sub>
                    </m:sSub>
                  </m:oMath>
                </a14:m>
                <a:r>
                  <a:rPr lang="en-US" sz="1800" cap="none" dirty="0"/>
                  <a:t> (black solid) is compared with the Tolman curvature law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cap="none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cap="none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1800" i="1" cap="none" dirty="0" smtClean="0">
                            <a:latin typeface="Cambria Math" panose="02040503050406030204" pitchFamily="18" charset="0"/>
                          </a:rPr>
                          <m:t>𝑇𝑜𝑙𝑚𝑎𝑛</m:t>
                        </m:r>
                      </m:sub>
                    </m:sSub>
                  </m:oMath>
                </a14:m>
                <a:r>
                  <a:rPr lang="en-US" sz="1800" cap="none" dirty="0"/>
                  <a:t> (red dashed) over the solved domain (shaded). The two laws coincide in the planar, gradient-free limit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cap="none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cap="none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1800" i="1" cap="none" dirty="0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800" cap="none" dirty="0"/>
                  <a:t> and separate as r decreases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0" cap="none" dirty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1800" i="1" cap="none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800" cap="none" dirty="0"/>
                  <a:t> increases, the departure measuring the thermal-field coupling of the surface energy that the Tolman law omits. Axes: droplet radius r in m, decimal logarithm of the thermal gradient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 cap="none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800" i="0" cap="none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i="0" cap="none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800" i="1" cap="none" dirty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m:rPr>
                            <m:sty m:val="p"/>
                          </m:rPr>
                          <a:rPr lang="en-US" sz="1800" cap="none" dirty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sz="1800" i="1" cap="none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func>
                  </m:oMath>
                </a14:m>
                <a:r>
                  <a:rPr lang="en-US" sz="1800" cap="none" dirty="0"/>
                  <a:t> in </a:t>
                </a:r>
                <a14:m>
                  <m:oMath xmlns:m="http://schemas.openxmlformats.org/officeDocument/2006/math">
                    <m:r>
                      <a:rPr lang="en-US" sz="1800" i="1" cap="none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800" i="1" cap="none" dirty="0"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en-US" sz="1800" i="1" cap="none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cap="none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800" i="1" cap="none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cap="none" dirty="0"/>
                  <a:t>, and interfacial energy γ in </a:t>
                </a:r>
                <a14:m>
                  <m:oMath xmlns:m="http://schemas.openxmlformats.org/officeDocument/2006/math">
                    <m:r>
                      <a:rPr lang="en-US" sz="1800" i="1" cap="none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800" i="1" cap="none" dirty="0" smtClean="0"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en-US" sz="1800" i="1" cap="none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cap="none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800" i="1" cap="none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pt-BR" sz="1800" cap="none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4FA640B-A6F4-E30F-139B-21E4ED3175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74" y="2078525"/>
                <a:ext cx="4652343" cy="3886178"/>
              </a:xfrm>
              <a:blipFill>
                <a:blip r:embed="rId3"/>
                <a:stretch>
                  <a:fillRect l="-786" t="-314" r="-9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ço Reservado para Rodapé 4">
            <a:extLst>
              <a:ext uri="{FF2B5EF4-FFF2-40B4-BE49-F238E27FC236}">
                <a16:creationId xmlns:a16="http://schemas.microsoft.com/office/drawing/2014/main" id="{D2F74FC3-D3DF-5648-B2F2-78C566205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  <p:pic>
        <p:nvPicPr>
          <p:cNvPr id="4" name="Picture">
            <a:extLst>
              <a:ext uri="{FF2B5EF4-FFF2-40B4-BE49-F238E27FC236}">
                <a16:creationId xmlns:a16="http://schemas.microsoft.com/office/drawing/2014/main" id="{9F772ADA-271C-9FB7-1BDC-27D8379C489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6045591" y="1982311"/>
            <a:ext cx="5334000" cy="407860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300578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B667D-9394-9E25-78BD-CE0ACE50A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7D3755-5F7E-5AB3-7B85-53837B25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b="1" cap="none" dirty="0" err="1"/>
              <a:t>Conclusions</a:t>
            </a:r>
            <a:endParaRPr lang="pt-BR" sz="4000" b="1" cap="none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CEC7E28D-A4C5-DC16-08DD-73EF51A6C0A4}"/>
              </a:ext>
            </a:extLst>
          </p:cNvPr>
          <p:cNvSpPr txBox="1">
            <a:spLocks/>
          </p:cNvSpPr>
          <p:nvPr/>
        </p:nvSpPr>
        <p:spPr>
          <a:xfrm>
            <a:off x="913774" y="1950720"/>
            <a:ext cx="9690536" cy="42499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cap="none" dirty="0">
                <a:effectLst/>
              </a:rPr>
              <a:t>1. The second-order nucleation formulation, in relation to the critical radius, was validated and experimentally confirmed as a valid scientific theory;</a:t>
            </a:r>
          </a:p>
          <a:p>
            <a:pPr marL="0" indent="0">
              <a:buNone/>
            </a:pPr>
            <a:r>
              <a:rPr lang="en-US" cap="none" dirty="0">
                <a:effectLst/>
              </a:rPr>
              <a:t>2. The nucleation process analyzed has shown quadratic behavior in terms of nucleation radius;</a:t>
            </a:r>
            <a:endParaRPr lang="pt-BR" cap="none" dirty="0">
              <a:effectLst/>
            </a:endParaRPr>
          </a:p>
          <a:p>
            <a:pPr marL="0" indent="0">
              <a:buNone/>
            </a:pPr>
            <a:r>
              <a:rPr lang="pt-BR" cap="none" dirty="0">
                <a:effectLst/>
              </a:rPr>
              <a:t>3. </a:t>
            </a:r>
            <a:r>
              <a:rPr lang="en-US" cap="none" dirty="0">
                <a:effectLst/>
              </a:rPr>
              <a:t>Bulk and configurational free energies exhibit opposing signs relative to surface free energy</a:t>
            </a:r>
            <a:r>
              <a:rPr lang="pt-BR" cap="none" dirty="0">
                <a:effectLst/>
              </a:rPr>
              <a:t>;</a:t>
            </a:r>
          </a:p>
          <a:p>
            <a:pPr marL="0" indent="0">
              <a:buNone/>
            </a:pPr>
            <a:r>
              <a:rPr lang="pt-BR" cap="none" dirty="0">
                <a:effectLst/>
              </a:rPr>
              <a:t>4. </a:t>
            </a:r>
            <a:r>
              <a:rPr lang="en-US" cap="none" dirty="0">
                <a:effectLst/>
              </a:rPr>
              <a:t>Because the substrate’s contribution aims to minimize local free energy, the configurational and bulk free energies share the same sign.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1800" cap="none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95005D-3B61-5FB6-730E-F3F1413F3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9847320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A4830-2782-3D8B-62C9-E9216B5A7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b="1" cap="none" dirty="0" err="1"/>
              <a:t>References</a:t>
            </a:r>
            <a:endParaRPr lang="pt-BR" sz="4000" b="1" cap="none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1A7CBB91-7086-FA8B-4C41-35465397D249}"/>
              </a:ext>
            </a:extLst>
          </p:cNvPr>
          <p:cNvSpPr txBox="1">
            <a:spLocks/>
          </p:cNvSpPr>
          <p:nvPr/>
        </p:nvSpPr>
        <p:spPr>
          <a:xfrm>
            <a:off x="913774" y="2062293"/>
            <a:ext cx="9690536" cy="375165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cap="none" dirty="0">
                <a:effectLst/>
              </a:rPr>
              <a:t>[1] I.L. Ferreira Physica B: Condensed Matter. 695 (2024) 416494.</a:t>
            </a:r>
          </a:p>
          <a:p>
            <a:pPr marL="0" indent="0">
              <a:buNone/>
            </a:pPr>
            <a:r>
              <a:rPr lang="en-US" cap="none" dirty="0">
                <a:effectLst/>
              </a:rPr>
              <a:t>[2] I.L. Ferreira: Materials. (2026) in press.</a:t>
            </a:r>
            <a:endParaRPr lang="pt-BR" cap="none" dirty="0">
              <a:effectLst/>
            </a:endParaRPr>
          </a:p>
          <a:p>
            <a:pPr marL="0" indent="0">
              <a:buNone/>
            </a:pPr>
            <a:r>
              <a:rPr lang="fr-FR" cap="none" dirty="0">
                <a:effectLst/>
              </a:rPr>
              <a:t>[3] Y.-B. Kang, Calphad: Comput. Coupling Ph. Diagr. Thermochem. 50 (2015) 23</a:t>
            </a:r>
          </a:p>
          <a:p>
            <a:pPr marL="0" indent="0">
              <a:buNone/>
            </a:pPr>
            <a:r>
              <a:rPr lang="fr-FR" cap="none" dirty="0">
                <a:effectLst/>
              </a:rPr>
              <a:t>[4] L.P. Marques et al.  Mater. Res., 28 (2025) e20250045-7. </a:t>
            </a:r>
            <a:endParaRPr lang="pt-BR" cap="none" dirty="0">
              <a:effectLst/>
            </a:endParaRPr>
          </a:p>
          <a:p>
            <a:pPr marL="0" indent="0">
              <a:buNone/>
            </a:pPr>
            <a:r>
              <a:rPr lang="fr-FR" cap="none" dirty="0">
                <a:effectLst/>
              </a:rPr>
              <a:t>[5] I.L. Ferreira et al. Mater. Res., 28 (2025) e20250069.</a:t>
            </a:r>
            <a:endParaRPr lang="pt-BR" cap="none" dirty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sz="1800" cap="none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F3AE92-EC0E-0803-D231-BB38221F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15161174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3C1D3-A8D2-1CCD-E37D-EF9646E91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F1FD0-D23E-EA86-131D-23FB886B4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383623"/>
            <a:ext cx="10364451" cy="1596177"/>
          </a:xfrm>
        </p:spPr>
        <p:txBody>
          <a:bodyPr/>
          <a:lstStyle/>
          <a:p>
            <a:r>
              <a:rPr lang="pt-BR" sz="4000" b="1" cap="none" dirty="0" err="1"/>
              <a:t>Thanks</a:t>
            </a:r>
            <a:r>
              <a:rPr lang="pt-BR" sz="4000" b="1" cap="none" dirty="0"/>
              <a:t> for </a:t>
            </a:r>
            <a:r>
              <a:rPr lang="pt-BR" sz="4000" b="1" cap="none" dirty="0" err="1"/>
              <a:t>Watching</a:t>
            </a:r>
            <a:r>
              <a:rPr lang="pt-BR" sz="4000" b="1" cap="none" dirty="0"/>
              <a:t>!</a:t>
            </a:r>
            <a:br>
              <a:rPr lang="pt-BR" sz="4000" b="1" cap="none" dirty="0"/>
            </a:br>
            <a:endParaRPr lang="pt-BR" sz="4000" b="1" cap="none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2F04B5B-5427-2F9B-70C9-C9F805AC1BE7}"/>
              </a:ext>
            </a:extLst>
          </p:cNvPr>
          <p:cNvSpPr txBox="1">
            <a:spLocks/>
          </p:cNvSpPr>
          <p:nvPr/>
        </p:nvSpPr>
        <p:spPr>
          <a:xfrm>
            <a:off x="913774" y="2062293"/>
            <a:ext cx="9690536" cy="375165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1800" cap="none" dirty="0"/>
          </a:p>
        </p:txBody>
      </p:sp>
      <p:pic>
        <p:nvPicPr>
          <p:cNvPr id="1026" name="Picture 2" descr="CNPq Logo – PNG e Vetor – Download de Logo">
            <a:extLst>
              <a:ext uri="{FF2B5EF4-FFF2-40B4-BE49-F238E27FC236}">
                <a16:creationId xmlns:a16="http://schemas.microsoft.com/office/drawing/2014/main" id="{EF611EB2-BAC4-5B66-E59A-1B1DC4854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617" y="4782963"/>
            <a:ext cx="3276600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169A0A6A-990F-DD56-1EAE-4525C6C96E14}"/>
              </a:ext>
            </a:extLst>
          </p:cNvPr>
          <p:cNvSpPr txBox="1">
            <a:spLocks/>
          </p:cNvSpPr>
          <p:nvPr/>
        </p:nvSpPr>
        <p:spPr>
          <a:xfrm>
            <a:off x="913774" y="1332751"/>
            <a:ext cx="10550345" cy="462537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>
                  <a:outerShdw blurRad="47625" dist="12700" dir="2700000" algn="tl" rotWithShape="0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cap="none" dirty="0">
                <a:effectLst/>
              </a:rPr>
              <a:t>Funding: </a:t>
            </a:r>
            <a:r>
              <a:rPr lang="en-US" cap="none" dirty="0">
                <a:effectLst/>
              </a:rPr>
              <a:t>The Authors acknowledge the financial support provided by </a:t>
            </a:r>
            <a:r>
              <a:rPr lang="en-US" b="1" cap="none" dirty="0">
                <a:effectLst/>
              </a:rPr>
              <a:t>CAPES</a:t>
            </a:r>
            <a:r>
              <a:rPr lang="en-US" cap="none" dirty="0">
                <a:effectLst/>
              </a:rPr>
              <a:t> (</a:t>
            </a:r>
            <a:r>
              <a:rPr lang="en-US" cap="none" dirty="0" err="1">
                <a:effectLst/>
              </a:rPr>
              <a:t>Coordenação</a:t>
            </a:r>
            <a:r>
              <a:rPr lang="en-US" cap="none" dirty="0">
                <a:effectLst/>
              </a:rPr>
              <a:t> de </a:t>
            </a:r>
            <a:r>
              <a:rPr lang="en-US" cap="none" dirty="0" err="1">
                <a:effectLst/>
              </a:rPr>
              <a:t>Aperfeiçoamento</a:t>
            </a:r>
            <a:r>
              <a:rPr lang="en-US" cap="none" dirty="0">
                <a:effectLst/>
              </a:rPr>
              <a:t> de </a:t>
            </a:r>
            <a:r>
              <a:rPr lang="en-US" cap="none" dirty="0" err="1">
                <a:effectLst/>
              </a:rPr>
              <a:t>Pessoal</a:t>
            </a:r>
            <a:r>
              <a:rPr lang="en-US" cap="none" dirty="0">
                <a:effectLst/>
              </a:rPr>
              <a:t> de </a:t>
            </a:r>
            <a:r>
              <a:rPr lang="en-US" cap="none" dirty="0" err="1">
                <a:effectLst/>
              </a:rPr>
              <a:t>Nível</a:t>
            </a:r>
            <a:r>
              <a:rPr lang="en-US" cap="none" dirty="0">
                <a:effectLst/>
              </a:rPr>
              <a:t> Superior - Brazil) Finance Code 001 and Grant 88881.707312/2022-01, and </a:t>
            </a:r>
            <a:r>
              <a:rPr lang="en-US" b="1" cap="none" dirty="0" err="1">
                <a:effectLst/>
              </a:rPr>
              <a:t>CNPq</a:t>
            </a:r>
            <a:r>
              <a:rPr lang="en-US" cap="none" dirty="0">
                <a:effectLst/>
              </a:rPr>
              <a:t> (National Council for Scientific and Technological Development - Brazil) Grant 301502/2022-6, and </a:t>
            </a:r>
            <a:r>
              <a:rPr lang="en-US" b="1" cap="none" dirty="0">
                <a:effectLst/>
              </a:rPr>
              <a:t>FAPESPA</a:t>
            </a:r>
            <a:r>
              <a:rPr lang="en-US" cap="none" dirty="0">
                <a:effectLst/>
              </a:rPr>
              <a:t> (</a:t>
            </a:r>
            <a:r>
              <a:rPr lang="en-US" cap="none" dirty="0" err="1">
                <a:effectLst/>
              </a:rPr>
              <a:t>Fundação</a:t>
            </a:r>
            <a:r>
              <a:rPr lang="en-US" cap="none" dirty="0">
                <a:effectLst/>
              </a:rPr>
              <a:t> Amazônia de Amparo a </a:t>
            </a:r>
            <a:r>
              <a:rPr lang="en-US" cap="none" dirty="0" err="1">
                <a:effectLst/>
              </a:rPr>
              <a:t>Estudos</a:t>
            </a:r>
            <a:r>
              <a:rPr lang="en-US" cap="none" dirty="0">
                <a:effectLst/>
              </a:rPr>
              <a:t> e </a:t>
            </a:r>
            <a:r>
              <a:rPr lang="en-US" cap="none" dirty="0" err="1">
                <a:effectLst/>
              </a:rPr>
              <a:t>Pesquisas</a:t>
            </a:r>
            <a:r>
              <a:rPr lang="en-US" cap="none" dirty="0">
                <a:effectLst/>
              </a:rPr>
              <a:t>).</a:t>
            </a:r>
          </a:p>
          <a:p>
            <a:pPr marL="0" indent="0" algn="just">
              <a:buNone/>
            </a:pPr>
            <a:r>
              <a:rPr lang="pt-BR" cap="none" dirty="0" err="1"/>
              <a:t>Special</a:t>
            </a:r>
            <a:r>
              <a:rPr lang="pt-BR" cap="none" dirty="0"/>
              <a:t> </a:t>
            </a:r>
            <a:r>
              <a:rPr lang="pt-BR" cap="none" dirty="0" err="1"/>
              <a:t>thanks</a:t>
            </a:r>
            <a:r>
              <a:rPr lang="pt-BR" cap="none" dirty="0"/>
              <a:t> </a:t>
            </a:r>
            <a:r>
              <a:rPr lang="pt-BR" cap="none" dirty="0" err="1"/>
              <a:t>to</a:t>
            </a:r>
            <a:r>
              <a:rPr lang="pt-BR" cap="none" dirty="0"/>
              <a:t> Project “Energy Recovery </a:t>
            </a:r>
            <a:r>
              <a:rPr lang="pt-BR" cap="none" dirty="0" err="1"/>
              <a:t>from</a:t>
            </a:r>
            <a:r>
              <a:rPr lang="pt-BR" cap="none" dirty="0"/>
              <a:t> </a:t>
            </a:r>
            <a:r>
              <a:rPr lang="pt-BR" cap="none" dirty="0" err="1"/>
              <a:t>Agricultural</a:t>
            </a:r>
            <a:r>
              <a:rPr lang="pt-BR" cap="none" dirty="0"/>
              <a:t> </a:t>
            </a:r>
            <a:r>
              <a:rPr lang="pt-BR" cap="none" dirty="0" err="1"/>
              <a:t>and</a:t>
            </a:r>
            <a:r>
              <a:rPr lang="pt-BR" cap="none" dirty="0"/>
              <a:t> </a:t>
            </a:r>
            <a:r>
              <a:rPr lang="pt-BR" cap="none" dirty="0" err="1"/>
              <a:t>Forestry</a:t>
            </a:r>
            <a:r>
              <a:rPr lang="pt-BR" cap="none" dirty="0"/>
              <a:t> </a:t>
            </a:r>
            <a:r>
              <a:rPr lang="pt-BR" cap="none" dirty="0" err="1"/>
              <a:t>Waste</a:t>
            </a:r>
            <a:r>
              <a:rPr lang="pt-BR" cap="none" dirty="0"/>
              <a:t> in </a:t>
            </a:r>
            <a:r>
              <a:rPr lang="pt-BR" cap="none" dirty="0" err="1"/>
              <a:t>the</a:t>
            </a:r>
            <a:r>
              <a:rPr lang="pt-BR" cap="none" dirty="0"/>
              <a:t> States </a:t>
            </a:r>
            <a:r>
              <a:rPr lang="pt-BR" cap="none" dirty="0" err="1"/>
              <a:t>of</a:t>
            </a:r>
            <a:r>
              <a:rPr lang="pt-BR" cap="none" dirty="0"/>
              <a:t> Amazonas, Pará, </a:t>
            </a:r>
            <a:r>
              <a:rPr lang="pt-BR" cap="none" dirty="0" err="1"/>
              <a:t>and</a:t>
            </a:r>
            <a:r>
              <a:rPr lang="pt-BR" cap="none" dirty="0"/>
              <a:t> Mato Grosso: </a:t>
            </a:r>
            <a:r>
              <a:rPr lang="pt-BR" cap="none" dirty="0" err="1"/>
              <a:t>Sustainable</a:t>
            </a:r>
            <a:r>
              <a:rPr lang="pt-BR" cap="none" dirty="0"/>
              <a:t> </a:t>
            </a:r>
            <a:r>
              <a:rPr lang="pt-BR" cap="none" dirty="0" err="1"/>
              <a:t>Production</a:t>
            </a:r>
            <a:r>
              <a:rPr lang="pt-BR" cap="none" dirty="0"/>
              <a:t> </a:t>
            </a:r>
            <a:r>
              <a:rPr lang="pt-BR" cap="none" dirty="0" err="1"/>
              <a:t>of</a:t>
            </a:r>
            <a:r>
              <a:rPr lang="pt-BR" cap="none" dirty="0"/>
              <a:t> HVO, </a:t>
            </a:r>
            <a:r>
              <a:rPr lang="pt-BR" cap="none" dirty="0" err="1"/>
              <a:t>Biogas</a:t>
            </a:r>
            <a:r>
              <a:rPr lang="pt-BR" cap="none" dirty="0"/>
              <a:t>, </a:t>
            </a:r>
            <a:r>
              <a:rPr lang="pt-BR" cap="none" dirty="0" err="1"/>
              <a:t>Biometane</a:t>
            </a:r>
            <a:r>
              <a:rPr lang="pt-BR" cap="none" dirty="0"/>
              <a:t>, </a:t>
            </a:r>
            <a:r>
              <a:rPr lang="pt-BR" cap="none" dirty="0" err="1"/>
              <a:t>and</a:t>
            </a:r>
            <a:r>
              <a:rPr lang="pt-BR" cap="none" dirty="0"/>
              <a:t> Green </a:t>
            </a:r>
            <a:r>
              <a:rPr lang="pt-BR" cap="none" dirty="0" err="1"/>
              <a:t>Hydrogen</a:t>
            </a:r>
            <a:r>
              <a:rPr lang="pt-BR" cap="none" dirty="0"/>
              <a:t> for Use in </a:t>
            </a:r>
            <a:r>
              <a:rPr lang="pt-BR" cap="none" dirty="0" err="1"/>
              <a:t>Internal</a:t>
            </a:r>
            <a:r>
              <a:rPr lang="pt-BR" cap="none" dirty="0"/>
              <a:t> </a:t>
            </a:r>
            <a:r>
              <a:rPr lang="pt-BR" cap="none" dirty="0" err="1"/>
              <a:t>Combustion</a:t>
            </a:r>
            <a:r>
              <a:rPr lang="pt-BR" cap="none" dirty="0"/>
              <a:t> </a:t>
            </a:r>
            <a:r>
              <a:rPr lang="pt-BR" cap="none" dirty="0" err="1"/>
              <a:t>Engines</a:t>
            </a:r>
            <a:r>
              <a:rPr lang="pt-BR" cap="none" dirty="0"/>
              <a:t>”,</a:t>
            </a:r>
            <a:r>
              <a:rPr lang="en-US" cap="none" dirty="0">
                <a:effectLst/>
              </a:rPr>
              <a:t> </a:t>
            </a:r>
            <a:r>
              <a:rPr lang="en-US" b="1" cap="none" dirty="0" err="1">
                <a:effectLst/>
              </a:rPr>
              <a:t>CNPq</a:t>
            </a:r>
            <a:r>
              <a:rPr lang="en-US" cap="none" dirty="0">
                <a:effectLst/>
              </a:rPr>
              <a:t> Grant 445608/2024-2</a:t>
            </a:r>
            <a:r>
              <a:rPr lang="pt-BR" cap="none" dirty="0">
                <a:effectLst/>
              </a:rPr>
              <a:t>.</a:t>
            </a:r>
            <a:endParaRPr lang="pt-BR" cap="none" dirty="0"/>
          </a:p>
        </p:txBody>
      </p:sp>
      <p:pic>
        <p:nvPicPr>
          <p:cNvPr id="1030" name="Picture 6" descr="Radar 2021">
            <a:extLst>
              <a:ext uri="{FF2B5EF4-FFF2-40B4-BE49-F238E27FC236}">
                <a16:creationId xmlns:a16="http://schemas.microsoft.com/office/drawing/2014/main" id="{3B2E2E50-CB32-48FB-F3ED-089E5F604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383" y="4782963"/>
            <a:ext cx="2895600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dentidade Visual — CAPES">
            <a:extLst>
              <a:ext uri="{FF2B5EF4-FFF2-40B4-BE49-F238E27FC236}">
                <a16:creationId xmlns:a16="http://schemas.microsoft.com/office/drawing/2014/main" id="{D9452941-BF37-1EBA-EB1A-C3148294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7103" y="5235477"/>
            <a:ext cx="3211773" cy="58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5139E12B-4C62-ABDD-7282-6C7CE20CF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3119790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D2CB2-0529-E4DB-8FA1-6651721C5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B8F6EDB2-48A1-EE3C-8411-61E3C97F0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279" y="0"/>
            <a:ext cx="7364616" cy="6463047"/>
          </a:xfrm>
          <a:prstGeom prst="rect">
            <a:avLst/>
          </a:prstGeom>
        </p:spPr>
      </p:pic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02218660-2FAB-E87F-A571-83A9C8CC0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426984"/>
            <a:ext cx="6672887" cy="365125"/>
          </a:xfrm>
        </p:spPr>
        <p:txBody>
          <a:bodyPr/>
          <a:lstStyle/>
          <a:p>
            <a:r>
              <a:rPr lang="en-US" dirty="0"/>
              <a:t>I. L. Ferreira at the MRS-Meeting 2026</a:t>
            </a:r>
          </a:p>
        </p:txBody>
      </p:sp>
    </p:spTree>
    <p:extLst>
      <p:ext uri="{BB962C8B-B14F-4D97-AF65-F5344CB8AC3E}">
        <p14:creationId xmlns:p14="http://schemas.microsoft.com/office/powerpoint/2010/main" val="561295572"/>
      </p:ext>
    </p:extLst>
  </p:cSld>
  <p:clrMapOvr>
    <a:masterClrMapping/>
  </p:clrMapOvr>
</p:sld>
</file>

<file path=ppt/theme/theme1.xml><?xml version="1.0" encoding="utf-8"?>
<a:theme xmlns:a="http://schemas.openxmlformats.org/drawingml/2006/main" name="Gotícula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TM04033925[[fn=Gotícula]]</Template>
  <TotalTime>16614</TotalTime>
  <Words>3152</Words>
  <Application>Microsoft Office PowerPoint</Application>
  <PresentationFormat>Widescreen</PresentationFormat>
  <Paragraphs>323</Paragraphs>
  <Slides>41</Slides>
  <Notes>28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Cambria Math</vt:lpstr>
      <vt:lpstr>Times New Roman</vt:lpstr>
      <vt:lpstr>Tw Cen MT</vt:lpstr>
      <vt:lpstr>Gotícula</vt:lpstr>
      <vt:lpstr>On Predicting Microstructural Evolution from the Dependence of Phase Gibbs Free Energy on the Thermal Gradient</vt:lpstr>
      <vt:lpstr>Motivation</vt:lpstr>
      <vt:lpstr>OBjectives</vt:lpstr>
      <vt:lpstr>A Proper Field for Phase Transformation</vt:lpstr>
      <vt:lpstr>A Proper Field for Phase Transformation</vt:lpstr>
      <vt:lpstr>A Proper Field for Phase Transformation</vt:lpstr>
      <vt:lpstr>A Proper Field for Phase Transformation</vt:lpstr>
      <vt:lpstr>A Novel Phase Nucleation Formulation</vt:lpstr>
      <vt:lpstr>A Novel Phase Nucleation Formulation</vt:lpstr>
      <vt:lpstr>A Novel Phase Nucleation Formulation</vt:lpstr>
      <vt:lpstr>A General Phase Transformation Equation</vt:lpstr>
      <vt:lpstr>Application of Fundamental Thermodynamics Variables and Functions to this New Field</vt:lpstr>
      <vt:lpstr>Application of Fundamental Thermodynamics Variables and Functions to this New Field</vt:lpstr>
      <vt:lpstr>Application of Fundamental Thermodynamics Variables and Functions to this New Field</vt:lpstr>
      <vt:lpstr>Application of Fundamental Thermodynamics Variables and Functions to this New Field</vt:lpstr>
      <vt:lpstr>Application of Fundamental Thermodynamics Variables and Functions to this New Field</vt:lpstr>
      <vt:lpstr>Experimental Validation, Γ=f(∇T): SDAS</vt:lpstr>
      <vt:lpstr>Application Example 1</vt:lpstr>
      <vt:lpstr>Application Example 1</vt:lpstr>
      <vt:lpstr>Application Example 1</vt:lpstr>
      <vt:lpstr>Application Example 1</vt:lpstr>
      <vt:lpstr>Application Example 1</vt:lpstr>
      <vt:lpstr>Application Example 1</vt:lpstr>
      <vt:lpstr>Application Example 1</vt:lpstr>
      <vt:lpstr>Application Example 1</vt:lpstr>
      <vt:lpstr>Application Example 1</vt:lpstr>
      <vt:lpstr>Application Example 1</vt:lpstr>
      <vt:lpstr>Application Example 2</vt:lpstr>
      <vt:lpstr>Application Example 2</vt:lpstr>
      <vt:lpstr>Application Example 2</vt:lpstr>
      <vt:lpstr>Application Example 1</vt:lpstr>
      <vt:lpstr>Application Example 1</vt:lpstr>
      <vt:lpstr>Application Example 1</vt:lpstr>
      <vt:lpstr>Application Example 1</vt:lpstr>
      <vt:lpstr>Application Example 1</vt:lpstr>
      <vt:lpstr>Application Example 1</vt:lpstr>
      <vt:lpstr>Application Example 3</vt:lpstr>
      <vt:lpstr>Conclusions</vt:lpstr>
      <vt:lpstr>References</vt:lpstr>
      <vt:lpstr>Thanks for Watching! 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IVALDO L FERREIRA</dc:creator>
  <cp:lastModifiedBy>IVALDO L FERREIRA</cp:lastModifiedBy>
  <cp:revision>163</cp:revision>
  <dcterms:created xsi:type="dcterms:W3CDTF">2025-08-19T18:38:47Z</dcterms:created>
  <dcterms:modified xsi:type="dcterms:W3CDTF">2026-09-29T00:29:59Z</dcterms:modified>
</cp:coreProperties>
</file>